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imes New Roman Bold" charset="1" panose="02020803070505020304"/>
      <p:regular r:id="rId24"/>
    </p:embeddedFont>
    <p:embeddedFont>
      <p:font typeface="Times New Roman" charset="1" panose="02020603050405020304"/>
      <p:regular r:id="rId25"/>
    </p:embeddedFont>
    <p:embeddedFont>
      <p:font typeface="Calibri (MS)" charset="1" panose="020F0502020204030204"/>
      <p:regular r:id="rId26"/>
    </p:embeddedFont>
    <p:embeddedFont>
      <p:font typeface="Arial Bold" charset="1" panose="020B0704020202020204"/>
      <p:regular r:id="rId27"/>
    </p:embeddedFont>
    <p:embeddedFont>
      <p:font typeface="Calibri (MS) Bold" charset="1" panose="020F0702030404030204"/>
      <p:regular r:id="rId28"/>
    </p:embeddedFont>
    <p:embeddedFont>
      <p:font typeface="Courier New" charset="1" panose="020703090202050204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00393" y="2661391"/>
            <a:ext cx="21288787" cy="2238000"/>
          </a:xfrm>
          <a:custGeom>
            <a:avLst/>
            <a:gdLst/>
            <a:ahLst/>
            <a:cxnLst/>
            <a:rect r="r" b="b" t="t" l="l"/>
            <a:pathLst>
              <a:path h="2238000" w="21288787">
                <a:moveTo>
                  <a:pt x="0" y="0"/>
                </a:moveTo>
                <a:lnTo>
                  <a:pt x="21288786" y="0"/>
                </a:lnTo>
                <a:lnTo>
                  <a:pt x="21288786" y="2237999"/>
                </a:lnTo>
                <a:lnTo>
                  <a:pt x="0" y="2237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220" r="0" b="-402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38746" y="203877"/>
            <a:ext cx="4079563" cy="2208854"/>
          </a:xfrm>
          <a:custGeom>
            <a:avLst/>
            <a:gdLst/>
            <a:ahLst/>
            <a:cxnLst/>
            <a:rect r="r" b="b" t="t" l="l"/>
            <a:pathLst>
              <a:path h="2208854" w="4079563">
                <a:moveTo>
                  <a:pt x="0" y="0"/>
                </a:moveTo>
                <a:lnTo>
                  <a:pt x="4079563" y="0"/>
                </a:lnTo>
                <a:lnTo>
                  <a:pt x="4079563" y="2208855"/>
                </a:lnTo>
                <a:lnTo>
                  <a:pt x="0" y="2208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9298" y="-265063"/>
            <a:ext cx="5152168" cy="937880"/>
          </a:xfrm>
          <a:custGeom>
            <a:avLst/>
            <a:gdLst/>
            <a:ahLst/>
            <a:cxnLst/>
            <a:rect r="r" b="b" t="t" l="l"/>
            <a:pathLst>
              <a:path h="937880" w="5152168">
                <a:moveTo>
                  <a:pt x="0" y="0"/>
                </a:moveTo>
                <a:lnTo>
                  <a:pt x="5152168" y="0"/>
                </a:lnTo>
                <a:lnTo>
                  <a:pt x="5152168" y="937880"/>
                </a:lnTo>
                <a:lnTo>
                  <a:pt x="0" y="937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941" t="-311361" r="-21039" b="-25303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76218" y="2826840"/>
            <a:ext cx="14779247" cy="2031521"/>
            <a:chOff x="0" y="0"/>
            <a:chExt cx="19705663" cy="270869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19705663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26"/>
                </a:lnSpc>
              </a:pPr>
              <a:r>
                <a:rPr lang="en-US" b="true" sz="6605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Topological Financial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37094"/>
              <a:ext cx="19705663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26"/>
                </a:lnSpc>
              </a:pPr>
              <a:r>
                <a:rPr lang="en-US" sz="6605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Risk Optimizer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91949" y="5404215"/>
            <a:ext cx="1477924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b="true" sz="30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Predicting Market Crashes Before They Happen — Using Topology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4376" y="5880465"/>
            <a:ext cx="1477924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Non-Euclidean Early Warning System for Structural Market Shattering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8604615"/>
            <a:ext cx="1216173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algn="ctr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ANJALI PRIYADARSHI|DAKSH BATRA|PRATYUSH KUMAR RAI</a:t>
            </a:r>
          </a:p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04411503123|04311503123|00111503123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32262" y="8539162"/>
            <a:ext cx="2935962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Mentor:</a:t>
            </a:r>
          </a:p>
          <a:p>
            <a:pPr algn="ctr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Neha Sharma</a:t>
            </a:r>
          </a:p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Assisitant Professor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56274" y="6642465"/>
            <a:ext cx="837545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</a:p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Bharati Vidyapeeth’s college of Engineering, New Delhi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7430" y="8503210"/>
            <a:ext cx="16813139" cy="1200938"/>
            <a:chOff x="0" y="0"/>
            <a:chExt cx="22417519" cy="16012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17514" cy="1601248"/>
            </a:xfrm>
            <a:custGeom>
              <a:avLst/>
              <a:gdLst/>
              <a:ahLst/>
              <a:cxnLst/>
              <a:rect r="r" b="b" t="t" l="l"/>
              <a:pathLst>
                <a:path h="1601248" w="22417514">
                  <a:moveTo>
                    <a:pt x="0" y="0"/>
                  </a:moveTo>
                  <a:lnTo>
                    <a:pt x="22417514" y="0"/>
                  </a:lnTo>
                  <a:lnTo>
                    <a:pt x="22417514" y="1601248"/>
                  </a:lnTo>
                  <a:lnTo>
                    <a:pt x="0" y="160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2417519" cy="1629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"Crashes are not statistical anomalies — they are structural phase transitions."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1380" y="2937043"/>
            <a:ext cx="7699221" cy="2555547"/>
            <a:chOff x="0" y="0"/>
            <a:chExt cx="10265628" cy="340739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265628" cy="135128"/>
              <a:chOff x="0" y="0"/>
              <a:chExt cx="10265628" cy="13512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11381" y="12700"/>
                <a:ext cx="10242866" cy="109728"/>
              </a:xfrm>
              <a:custGeom>
                <a:avLst/>
                <a:gdLst/>
                <a:ahLst/>
                <a:cxnLst/>
                <a:rect r="r" b="b" t="t" l="l"/>
                <a:pathLst>
                  <a:path h="109728" w="10242866">
                    <a:moveTo>
                      <a:pt x="0" y="0"/>
                    </a:moveTo>
                    <a:lnTo>
                      <a:pt x="10242866" y="0"/>
                    </a:lnTo>
                    <a:lnTo>
                      <a:pt x="10242866" y="109728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265628" cy="135128"/>
              </a:xfrm>
              <a:custGeom>
                <a:avLst/>
                <a:gdLst/>
                <a:ahLst/>
                <a:cxnLst/>
                <a:rect r="r" b="b" t="t" l="l"/>
                <a:pathLst>
                  <a:path h="135128" w="10265628">
                    <a:moveTo>
                      <a:pt x="11381" y="0"/>
                    </a:moveTo>
                    <a:lnTo>
                      <a:pt x="10254247" y="0"/>
                    </a:lnTo>
                    <a:cubicBezTo>
                      <a:pt x="10260506" y="0"/>
                      <a:pt x="10265628" y="5715"/>
                      <a:pt x="10265628" y="12700"/>
                    </a:cubicBezTo>
                    <a:lnTo>
                      <a:pt x="10265628" y="122428"/>
                    </a:lnTo>
                    <a:cubicBezTo>
                      <a:pt x="10265628" y="129413"/>
                      <a:pt x="10260506" y="135128"/>
                      <a:pt x="10254247" y="135128"/>
                    </a:cubicBezTo>
                    <a:lnTo>
                      <a:pt x="11381" y="135128"/>
                    </a:lnTo>
                    <a:cubicBezTo>
                      <a:pt x="5121" y="135128"/>
                      <a:pt x="0" y="129413"/>
                      <a:pt x="0" y="122428"/>
                    </a:cubicBezTo>
                    <a:lnTo>
                      <a:pt x="0" y="12700"/>
                    </a:lnTo>
                    <a:cubicBezTo>
                      <a:pt x="0" y="5715"/>
                      <a:pt x="5121" y="0"/>
                      <a:pt x="11381" y="0"/>
                    </a:cubicBezTo>
                    <a:moveTo>
                      <a:pt x="11381" y="25400"/>
                    </a:moveTo>
                    <a:lnTo>
                      <a:pt x="11381" y="12700"/>
                    </a:lnTo>
                    <a:lnTo>
                      <a:pt x="22762" y="12700"/>
                    </a:lnTo>
                    <a:lnTo>
                      <a:pt x="22762" y="122428"/>
                    </a:lnTo>
                    <a:lnTo>
                      <a:pt x="11381" y="122428"/>
                    </a:lnTo>
                    <a:lnTo>
                      <a:pt x="11381" y="109728"/>
                    </a:lnTo>
                    <a:lnTo>
                      <a:pt x="10254247" y="109728"/>
                    </a:lnTo>
                    <a:lnTo>
                      <a:pt x="10254247" y="122428"/>
                    </a:lnTo>
                    <a:lnTo>
                      <a:pt x="10242866" y="122428"/>
                    </a:lnTo>
                    <a:lnTo>
                      <a:pt x="10242866" y="12700"/>
                    </a:lnTo>
                    <a:lnTo>
                      <a:pt x="10254247" y="12700"/>
                    </a:lnTo>
                    <a:lnTo>
                      <a:pt x="10254247" y="25400"/>
                    </a:lnTo>
                    <a:lnTo>
                      <a:pt x="11381" y="25400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6389" y="135128"/>
              <a:ext cx="10249239" cy="2924923"/>
              <a:chOff x="0" y="0"/>
              <a:chExt cx="10249239" cy="292492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1363" y="7625"/>
                <a:ext cx="10226514" cy="2909673"/>
              </a:xfrm>
              <a:custGeom>
                <a:avLst/>
                <a:gdLst/>
                <a:ahLst/>
                <a:cxnLst/>
                <a:rect r="r" b="b" t="t" l="l"/>
                <a:pathLst>
                  <a:path h="2909673" w="10226514">
                    <a:moveTo>
                      <a:pt x="0" y="0"/>
                    </a:moveTo>
                    <a:lnTo>
                      <a:pt x="10226514" y="0"/>
                    </a:lnTo>
                    <a:lnTo>
                      <a:pt x="10226514" y="2909673"/>
                    </a:lnTo>
                    <a:lnTo>
                      <a:pt x="0" y="290967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249240" cy="2924923"/>
              </a:xfrm>
              <a:custGeom>
                <a:avLst/>
                <a:gdLst/>
                <a:ahLst/>
                <a:cxnLst/>
                <a:rect r="r" b="b" t="t" l="l"/>
                <a:pathLst>
                  <a:path h="2924923" w="10249240">
                    <a:moveTo>
                      <a:pt x="11363" y="0"/>
                    </a:moveTo>
                    <a:lnTo>
                      <a:pt x="10237877" y="0"/>
                    </a:lnTo>
                    <a:cubicBezTo>
                      <a:pt x="10244126" y="0"/>
                      <a:pt x="10249240" y="3431"/>
                      <a:pt x="10249240" y="7625"/>
                    </a:cubicBezTo>
                    <a:lnTo>
                      <a:pt x="10249240" y="2917298"/>
                    </a:lnTo>
                    <a:cubicBezTo>
                      <a:pt x="10249240" y="2921492"/>
                      <a:pt x="10244126" y="2924923"/>
                      <a:pt x="10237877" y="2924923"/>
                    </a:cubicBezTo>
                    <a:lnTo>
                      <a:pt x="11363" y="2924923"/>
                    </a:lnTo>
                    <a:cubicBezTo>
                      <a:pt x="5113" y="2924923"/>
                      <a:pt x="0" y="2921492"/>
                      <a:pt x="0" y="2917298"/>
                    </a:cubicBezTo>
                    <a:lnTo>
                      <a:pt x="0" y="7625"/>
                    </a:lnTo>
                    <a:cubicBezTo>
                      <a:pt x="0" y="3431"/>
                      <a:pt x="5113" y="0"/>
                      <a:pt x="11363" y="0"/>
                    </a:cubicBezTo>
                    <a:moveTo>
                      <a:pt x="11363" y="15250"/>
                    </a:moveTo>
                    <a:lnTo>
                      <a:pt x="11363" y="7625"/>
                    </a:lnTo>
                    <a:lnTo>
                      <a:pt x="22726" y="7625"/>
                    </a:lnTo>
                    <a:lnTo>
                      <a:pt x="22726" y="2917298"/>
                    </a:lnTo>
                    <a:lnTo>
                      <a:pt x="11363" y="2917298"/>
                    </a:lnTo>
                    <a:lnTo>
                      <a:pt x="11363" y="2909673"/>
                    </a:lnTo>
                    <a:lnTo>
                      <a:pt x="10237877" y="2909673"/>
                    </a:lnTo>
                    <a:lnTo>
                      <a:pt x="10237877" y="2917298"/>
                    </a:lnTo>
                    <a:lnTo>
                      <a:pt x="10226514" y="2917298"/>
                    </a:lnTo>
                    <a:lnTo>
                      <a:pt x="10226514" y="7625"/>
                    </a:lnTo>
                    <a:lnTo>
                      <a:pt x="10237877" y="7625"/>
                    </a:lnTo>
                    <a:lnTo>
                      <a:pt x="10237877" y="15250"/>
                    </a:lnTo>
                    <a:lnTo>
                      <a:pt x="11363" y="152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22764" y="585075"/>
              <a:ext cx="874968" cy="976376"/>
              <a:chOff x="0" y="0"/>
              <a:chExt cx="874968" cy="97637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11381" y="12700"/>
                <a:ext cx="852206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52206">
                    <a:moveTo>
                      <a:pt x="0" y="475488"/>
                    </a:moveTo>
                    <a:cubicBezTo>
                      <a:pt x="0" y="212852"/>
                      <a:pt x="190745" y="0"/>
                      <a:pt x="426103" y="0"/>
                    </a:cubicBezTo>
                    <a:cubicBezTo>
                      <a:pt x="661461" y="0"/>
                      <a:pt x="852206" y="212852"/>
                      <a:pt x="852206" y="475488"/>
                    </a:cubicBezTo>
                    <a:cubicBezTo>
                      <a:pt x="852206" y="738124"/>
                      <a:pt x="661461" y="950976"/>
                      <a:pt x="426103" y="950976"/>
                    </a:cubicBezTo>
                    <a:cubicBezTo>
                      <a:pt x="190745" y="950976"/>
                      <a:pt x="0" y="738124"/>
                      <a:pt x="0" y="47548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74968" cy="976376"/>
              </a:xfrm>
              <a:custGeom>
                <a:avLst/>
                <a:gdLst/>
                <a:ahLst/>
                <a:cxnLst/>
                <a:rect r="r" b="b" t="t" l="l"/>
                <a:pathLst>
                  <a:path h="976376" w="874968">
                    <a:moveTo>
                      <a:pt x="0" y="488188"/>
                    </a:moveTo>
                    <a:cubicBezTo>
                      <a:pt x="0" y="218567"/>
                      <a:pt x="195866" y="0"/>
                      <a:pt x="437484" y="0"/>
                    </a:cubicBezTo>
                    <a:cubicBezTo>
                      <a:pt x="679102" y="0"/>
                      <a:pt x="874968" y="218567"/>
                      <a:pt x="874968" y="488188"/>
                    </a:cubicBezTo>
                    <a:lnTo>
                      <a:pt x="863587" y="488188"/>
                    </a:lnTo>
                    <a:lnTo>
                      <a:pt x="874968" y="488188"/>
                    </a:lnTo>
                    <a:cubicBezTo>
                      <a:pt x="874968" y="757809"/>
                      <a:pt x="679102" y="976376"/>
                      <a:pt x="437484" y="976376"/>
                    </a:cubicBezTo>
                    <a:lnTo>
                      <a:pt x="437484" y="963676"/>
                    </a:lnTo>
                    <a:lnTo>
                      <a:pt x="437484" y="976376"/>
                    </a:lnTo>
                    <a:cubicBezTo>
                      <a:pt x="195866" y="976376"/>
                      <a:pt x="0" y="757809"/>
                      <a:pt x="0" y="488188"/>
                    </a:cubicBezTo>
                    <a:lnTo>
                      <a:pt x="11381" y="488188"/>
                    </a:lnTo>
                    <a:lnTo>
                      <a:pt x="22762" y="488188"/>
                    </a:lnTo>
                    <a:lnTo>
                      <a:pt x="11381" y="488188"/>
                    </a:lnTo>
                    <a:lnTo>
                      <a:pt x="0" y="488188"/>
                    </a:lnTo>
                    <a:moveTo>
                      <a:pt x="22762" y="488188"/>
                    </a:moveTo>
                    <a:cubicBezTo>
                      <a:pt x="22762" y="495173"/>
                      <a:pt x="17640" y="500888"/>
                      <a:pt x="11381" y="500888"/>
                    </a:cubicBezTo>
                    <a:cubicBezTo>
                      <a:pt x="5121" y="500888"/>
                      <a:pt x="0" y="495173"/>
                      <a:pt x="0" y="488188"/>
                    </a:cubicBezTo>
                    <a:cubicBezTo>
                      <a:pt x="0" y="481203"/>
                      <a:pt x="5121" y="475488"/>
                      <a:pt x="11381" y="475488"/>
                    </a:cubicBezTo>
                    <a:cubicBezTo>
                      <a:pt x="17640" y="475488"/>
                      <a:pt x="22762" y="481203"/>
                      <a:pt x="22762" y="488188"/>
                    </a:cubicBezTo>
                    <a:cubicBezTo>
                      <a:pt x="22762" y="743839"/>
                      <a:pt x="208385" y="950976"/>
                      <a:pt x="437484" y="950976"/>
                    </a:cubicBezTo>
                    <a:cubicBezTo>
                      <a:pt x="666583" y="950976"/>
                      <a:pt x="852206" y="743839"/>
                      <a:pt x="852206" y="488188"/>
                    </a:cubicBezTo>
                    <a:cubicBezTo>
                      <a:pt x="852206" y="232537"/>
                      <a:pt x="666583" y="25400"/>
                      <a:pt x="437484" y="25400"/>
                    </a:cubicBezTo>
                    <a:lnTo>
                      <a:pt x="437484" y="12700"/>
                    </a:lnTo>
                    <a:lnTo>
                      <a:pt x="437484" y="25400"/>
                    </a:lnTo>
                    <a:cubicBezTo>
                      <a:pt x="208385" y="25400"/>
                      <a:pt x="22762" y="232537"/>
                      <a:pt x="22762" y="488188"/>
                    </a:cubicBezTo>
                    <a:close/>
                  </a:path>
                </a:pathLst>
              </a:custGeom>
              <a:solidFill>
                <a:srgbClr val="EF4444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22764" y="597775"/>
              <a:ext cx="852206" cy="950976"/>
              <a:chOff x="0" y="0"/>
              <a:chExt cx="852206" cy="95097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52206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52206">
                    <a:moveTo>
                      <a:pt x="0" y="0"/>
                    </a:moveTo>
                    <a:lnTo>
                      <a:pt x="852206" y="0"/>
                    </a:lnTo>
                    <a:lnTo>
                      <a:pt x="852206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7378" t="0" r="-98968" b="0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52206" cy="98907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📉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81346" y="725791"/>
              <a:ext cx="8522064" cy="832778"/>
              <a:chOff x="0" y="0"/>
              <a:chExt cx="8522064" cy="83277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522064" cy="832778"/>
              </a:xfrm>
              <a:custGeom>
                <a:avLst/>
                <a:gdLst/>
                <a:ahLst/>
                <a:cxnLst/>
                <a:rect r="r" b="b" t="t" l="l"/>
                <a:pathLst>
                  <a:path h="832778" w="8522064">
                    <a:moveTo>
                      <a:pt x="0" y="0"/>
                    </a:moveTo>
                    <a:lnTo>
                      <a:pt x="8522064" y="0"/>
                    </a:lnTo>
                    <a:lnTo>
                      <a:pt x="8522064" y="832778"/>
                    </a:lnTo>
                    <a:lnTo>
                      <a:pt x="0" y="8327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0781" r="-11589" b="-164230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8522064" cy="8518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59"/>
                  </a:lnSpc>
                </a:pPr>
                <a:r>
                  <a:rPr lang="en-US" sz="3049" b="true">
                    <a:solidFill>
                      <a:srgbClr val="1A2B3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Reactive, Not Predictive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49475" y="1190625"/>
              <a:ext cx="9620100" cy="2216771"/>
              <a:chOff x="0" y="0"/>
              <a:chExt cx="9620100" cy="2216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620100" cy="2216771"/>
              </a:xfrm>
              <a:custGeom>
                <a:avLst/>
                <a:gdLst/>
                <a:ahLst/>
                <a:cxnLst/>
                <a:rect r="r" b="b" t="t" l="l"/>
                <a:pathLst>
                  <a:path h="2216771" w="9620100">
                    <a:moveTo>
                      <a:pt x="0" y="0"/>
                    </a:moveTo>
                    <a:lnTo>
                      <a:pt x="9620100" y="0"/>
                    </a:lnTo>
                    <a:lnTo>
                      <a:pt x="9620100" y="2216771"/>
                    </a:lnTo>
                    <a:lnTo>
                      <a:pt x="0" y="221677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6298" r="-11589" b="-62420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23825"/>
                <a:ext cx="9620100" cy="234059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59"/>
                  </a:lnSpc>
                </a:pPr>
                <a:r>
                  <a:rPr lang="en-US" sz="274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RSI, MACD, Bollinger Bands describe what already happened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916928" y="5543263"/>
            <a:ext cx="7653674" cy="2912321"/>
            <a:chOff x="0" y="0"/>
            <a:chExt cx="10204898" cy="3883095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25730" y="0"/>
              <a:ext cx="10179168" cy="135128"/>
              <a:chOff x="0" y="0"/>
              <a:chExt cx="10179168" cy="13512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1285" y="12700"/>
                <a:ext cx="10156598" cy="109728"/>
              </a:xfrm>
              <a:custGeom>
                <a:avLst/>
                <a:gdLst/>
                <a:ahLst/>
                <a:cxnLst/>
                <a:rect r="r" b="b" t="t" l="l"/>
                <a:pathLst>
                  <a:path h="109728" w="10156598">
                    <a:moveTo>
                      <a:pt x="0" y="0"/>
                    </a:moveTo>
                    <a:lnTo>
                      <a:pt x="10156598" y="0"/>
                    </a:lnTo>
                    <a:lnTo>
                      <a:pt x="10156598" y="109728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179169" cy="135128"/>
              </a:xfrm>
              <a:custGeom>
                <a:avLst/>
                <a:gdLst/>
                <a:ahLst/>
                <a:cxnLst/>
                <a:rect r="r" b="b" t="t" l="l"/>
                <a:pathLst>
                  <a:path h="135128" w="10179169">
                    <a:moveTo>
                      <a:pt x="11285" y="0"/>
                    </a:moveTo>
                    <a:lnTo>
                      <a:pt x="10167883" y="0"/>
                    </a:lnTo>
                    <a:cubicBezTo>
                      <a:pt x="10174090" y="0"/>
                      <a:pt x="10179169" y="5715"/>
                      <a:pt x="10179169" y="12700"/>
                    </a:cubicBezTo>
                    <a:lnTo>
                      <a:pt x="10179169" y="122428"/>
                    </a:lnTo>
                    <a:cubicBezTo>
                      <a:pt x="10179169" y="129413"/>
                      <a:pt x="10174090" y="135128"/>
                      <a:pt x="10167883" y="135128"/>
                    </a:cubicBezTo>
                    <a:lnTo>
                      <a:pt x="11285" y="135128"/>
                    </a:lnTo>
                    <a:cubicBezTo>
                      <a:pt x="5078" y="135128"/>
                      <a:pt x="0" y="129413"/>
                      <a:pt x="0" y="122428"/>
                    </a:cubicBezTo>
                    <a:lnTo>
                      <a:pt x="0" y="12700"/>
                    </a:lnTo>
                    <a:cubicBezTo>
                      <a:pt x="0" y="5715"/>
                      <a:pt x="5078" y="0"/>
                      <a:pt x="11285" y="0"/>
                    </a:cubicBezTo>
                    <a:moveTo>
                      <a:pt x="11285" y="25400"/>
                    </a:moveTo>
                    <a:lnTo>
                      <a:pt x="11285" y="12700"/>
                    </a:lnTo>
                    <a:lnTo>
                      <a:pt x="22570" y="12700"/>
                    </a:lnTo>
                    <a:lnTo>
                      <a:pt x="22570" y="122428"/>
                    </a:lnTo>
                    <a:lnTo>
                      <a:pt x="11285" y="122428"/>
                    </a:lnTo>
                    <a:lnTo>
                      <a:pt x="11285" y="109728"/>
                    </a:lnTo>
                    <a:lnTo>
                      <a:pt x="10167883" y="109728"/>
                    </a:lnTo>
                    <a:lnTo>
                      <a:pt x="10167883" y="122428"/>
                    </a:lnTo>
                    <a:lnTo>
                      <a:pt x="10156598" y="122428"/>
                    </a:lnTo>
                    <a:lnTo>
                      <a:pt x="10156598" y="12700"/>
                    </a:lnTo>
                    <a:lnTo>
                      <a:pt x="10167883" y="12700"/>
                    </a:lnTo>
                    <a:lnTo>
                      <a:pt x="10167883" y="25400"/>
                    </a:lnTo>
                    <a:lnTo>
                      <a:pt x="11285" y="25400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135128"/>
              <a:ext cx="10179168" cy="2924923"/>
              <a:chOff x="0" y="0"/>
              <a:chExt cx="10179168" cy="292492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1285" y="7625"/>
                <a:ext cx="10156598" cy="2909673"/>
              </a:xfrm>
              <a:custGeom>
                <a:avLst/>
                <a:gdLst/>
                <a:ahLst/>
                <a:cxnLst/>
                <a:rect r="r" b="b" t="t" l="l"/>
                <a:pathLst>
                  <a:path h="2909673" w="10156598">
                    <a:moveTo>
                      <a:pt x="0" y="0"/>
                    </a:moveTo>
                    <a:lnTo>
                      <a:pt x="10156598" y="0"/>
                    </a:lnTo>
                    <a:lnTo>
                      <a:pt x="10156598" y="2909673"/>
                    </a:lnTo>
                    <a:lnTo>
                      <a:pt x="0" y="290967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179169" cy="2924923"/>
              </a:xfrm>
              <a:custGeom>
                <a:avLst/>
                <a:gdLst/>
                <a:ahLst/>
                <a:cxnLst/>
                <a:rect r="r" b="b" t="t" l="l"/>
                <a:pathLst>
                  <a:path h="2924923" w="10179169">
                    <a:moveTo>
                      <a:pt x="11285" y="0"/>
                    </a:moveTo>
                    <a:lnTo>
                      <a:pt x="10167883" y="0"/>
                    </a:lnTo>
                    <a:cubicBezTo>
                      <a:pt x="10174090" y="0"/>
                      <a:pt x="10179169" y="3431"/>
                      <a:pt x="10179169" y="7625"/>
                    </a:cubicBezTo>
                    <a:lnTo>
                      <a:pt x="10179169" y="2917298"/>
                    </a:lnTo>
                    <a:cubicBezTo>
                      <a:pt x="10179169" y="2921492"/>
                      <a:pt x="10174090" y="2924923"/>
                      <a:pt x="10167883" y="2924923"/>
                    </a:cubicBezTo>
                    <a:lnTo>
                      <a:pt x="11285" y="2924923"/>
                    </a:lnTo>
                    <a:cubicBezTo>
                      <a:pt x="5078" y="2924923"/>
                      <a:pt x="0" y="2921492"/>
                      <a:pt x="0" y="2917298"/>
                    </a:cubicBezTo>
                    <a:lnTo>
                      <a:pt x="0" y="7625"/>
                    </a:lnTo>
                    <a:cubicBezTo>
                      <a:pt x="0" y="3431"/>
                      <a:pt x="5078" y="0"/>
                      <a:pt x="11285" y="0"/>
                    </a:cubicBezTo>
                    <a:moveTo>
                      <a:pt x="11285" y="15250"/>
                    </a:moveTo>
                    <a:lnTo>
                      <a:pt x="11285" y="7625"/>
                    </a:lnTo>
                    <a:lnTo>
                      <a:pt x="22570" y="7625"/>
                    </a:lnTo>
                    <a:lnTo>
                      <a:pt x="22570" y="2917298"/>
                    </a:lnTo>
                    <a:lnTo>
                      <a:pt x="11285" y="2917298"/>
                    </a:lnTo>
                    <a:lnTo>
                      <a:pt x="11285" y="2909673"/>
                    </a:lnTo>
                    <a:lnTo>
                      <a:pt x="10167883" y="2909673"/>
                    </a:lnTo>
                    <a:lnTo>
                      <a:pt x="10167883" y="2917298"/>
                    </a:lnTo>
                    <a:lnTo>
                      <a:pt x="10156598" y="2917298"/>
                    </a:lnTo>
                    <a:lnTo>
                      <a:pt x="10156598" y="7625"/>
                    </a:lnTo>
                    <a:lnTo>
                      <a:pt x="10167883" y="7625"/>
                    </a:lnTo>
                    <a:lnTo>
                      <a:pt x="10167883" y="15250"/>
                    </a:lnTo>
                    <a:lnTo>
                      <a:pt x="11285" y="152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551169" y="696990"/>
              <a:ext cx="867599" cy="976376"/>
              <a:chOff x="0" y="0"/>
              <a:chExt cx="867599" cy="97637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11285" y="12700"/>
                <a:ext cx="845029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45029">
                    <a:moveTo>
                      <a:pt x="0" y="475488"/>
                    </a:moveTo>
                    <a:cubicBezTo>
                      <a:pt x="0" y="212852"/>
                      <a:pt x="189139" y="0"/>
                      <a:pt x="422515" y="0"/>
                    </a:cubicBezTo>
                    <a:cubicBezTo>
                      <a:pt x="655891" y="0"/>
                      <a:pt x="845029" y="212852"/>
                      <a:pt x="845029" y="475488"/>
                    </a:cubicBezTo>
                    <a:cubicBezTo>
                      <a:pt x="845029" y="738124"/>
                      <a:pt x="655891" y="950976"/>
                      <a:pt x="422515" y="950976"/>
                    </a:cubicBezTo>
                    <a:cubicBezTo>
                      <a:pt x="189139" y="950976"/>
                      <a:pt x="0" y="738124"/>
                      <a:pt x="0" y="47548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67599" cy="976376"/>
              </a:xfrm>
              <a:custGeom>
                <a:avLst/>
                <a:gdLst/>
                <a:ahLst/>
                <a:cxnLst/>
                <a:rect r="r" b="b" t="t" l="l"/>
                <a:pathLst>
                  <a:path h="976376" w="867599">
                    <a:moveTo>
                      <a:pt x="0" y="488188"/>
                    </a:moveTo>
                    <a:cubicBezTo>
                      <a:pt x="0" y="218567"/>
                      <a:pt x="194217" y="0"/>
                      <a:pt x="433800" y="0"/>
                    </a:cubicBezTo>
                    <a:cubicBezTo>
                      <a:pt x="673382" y="0"/>
                      <a:pt x="867599" y="218567"/>
                      <a:pt x="867599" y="488188"/>
                    </a:cubicBezTo>
                    <a:lnTo>
                      <a:pt x="856314" y="488188"/>
                    </a:lnTo>
                    <a:lnTo>
                      <a:pt x="867599" y="488188"/>
                    </a:lnTo>
                    <a:cubicBezTo>
                      <a:pt x="867599" y="757809"/>
                      <a:pt x="673382" y="976376"/>
                      <a:pt x="433800" y="976376"/>
                    </a:cubicBezTo>
                    <a:lnTo>
                      <a:pt x="433800" y="963676"/>
                    </a:lnTo>
                    <a:lnTo>
                      <a:pt x="433800" y="976376"/>
                    </a:lnTo>
                    <a:cubicBezTo>
                      <a:pt x="194217" y="976376"/>
                      <a:pt x="0" y="757809"/>
                      <a:pt x="0" y="488188"/>
                    </a:cubicBezTo>
                    <a:lnTo>
                      <a:pt x="11285" y="488188"/>
                    </a:lnTo>
                    <a:lnTo>
                      <a:pt x="22570" y="488188"/>
                    </a:lnTo>
                    <a:lnTo>
                      <a:pt x="11285" y="488188"/>
                    </a:lnTo>
                    <a:lnTo>
                      <a:pt x="0" y="488188"/>
                    </a:lnTo>
                    <a:moveTo>
                      <a:pt x="22570" y="488188"/>
                    </a:moveTo>
                    <a:cubicBezTo>
                      <a:pt x="22570" y="495173"/>
                      <a:pt x="17492" y="500888"/>
                      <a:pt x="11285" y="500888"/>
                    </a:cubicBezTo>
                    <a:cubicBezTo>
                      <a:pt x="5078" y="500888"/>
                      <a:pt x="0" y="495173"/>
                      <a:pt x="0" y="488188"/>
                    </a:cubicBezTo>
                    <a:cubicBezTo>
                      <a:pt x="0" y="481203"/>
                      <a:pt x="5078" y="475488"/>
                      <a:pt x="11285" y="475488"/>
                    </a:cubicBezTo>
                    <a:cubicBezTo>
                      <a:pt x="17492" y="475488"/>
                      <a:pt x="22570" y="481203"/>
                      <a:pt x="22570" y="488188"/>
                    </a:cubicBezTo>
                    <a:cubicBezTo>
                      <a:pt x="22570" y="743839"/>
                      <a:pt x="206630" y="950976"/>
                      <a:pt x="433800" y="950976"/>
                    </a:cubicBezTo>
                    <a:cubicBezTo>
                      <a:pt x="660969" y="950976"/>
                      <a:pt x="845029" y="743839"/>
                      <a:pt x="845029" y="488188"/>
                    </a:cubicBezTo>
                    <a:cubicBezTo>
                      <a:pt x="845029" y="232537"/>
                      <a:pt x="660969" y="25400"/>
                      <a:pt x="433800" y="25400"/>
                    </a:cubicBezTo>
                    <a:lnTo>
                      <a:pt x="433800" y="12700"/>
                    </a:lnTo>
                    <a:lnTo>
                      <a:pt x="433800" y="25400"/>
                    </a:lnTo>
                    <a:cubicBezTo>
                      <a:pt x="206630" y="25400"/>
                      <a:pt x="22570" y="232537"/>
                      <a:pt x="22570" y="488188"/>
                    </a:cubicBezTo>
                    <a:close/>
                  </a:path>
                </a:pathLst>
              </a:custGeom>
              <a:solidFill>
                <a:srgbClr val="EF4444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551169" y="709690"/>
              <a:ext cx="845029" cy="950976"/>
              <a:chOff x="0" y="0"/>
              <a:chExt cx="845029" cy="95097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45029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45029">
                    <a:moveTo>
                      <a:pt x="0" y="0"/>
                    </a:moveTo>
                    <a:lnTo>
                      <a:pt x="845029" y="0"/>
                    </a:lnTo>
                    <a:lnTo>
                      <a:pt x="845029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8121" t="0" r="-100658" b="0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845029" cy="98907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🌊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452619" y="725791"/>
              <a:ext cx="8450290" cy="1442378"/>
              <a:chOff x="0" y="0"/>
              <a:chExt cx="8450290" cy="144237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450290" cy="1442378"/>
              </a:xfrm>
              <a:custGeom>
                <a:avLst/>
                <a:gdLst/>
                <a:ahLst/>
                <a:cxnLst/>
                <a:rect r="r" b="b" t="t" l="l"/>
                <a:pathLst>
                  <a:path h="1442378" w="8450290">
                    <a:moveTo>
                      <a:pt x="0" y="0"/>
                    </a:moveTo>
                    <a:lnTo>
                      <a:pt x="8450290" y="0"/>
                    </a:lnTo>
                    <a:lnTo>
                      <a:pt x="8450290" y="1442378"/>
                    </a:lnTo>
                    <a:lnTo>
                      <a:pt x="0" y="14423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376" r="-12537" b="-52557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9050"/>
                <a:ext cx="8450290" cy="14614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59"/>
                  </a:lnSpc>
                </a:pPr>
                <a:r>
                  <a:rPr lang="en-US" sz="3049" b="true">
                    <a:solidFill>
                      <a:srgbClr val="1A2B3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Regime Blindness</a:t>
                </a:r>
              </a:p>
              <a:p>
                <a:pPr algn="l">
                  <a:lnSpc>
                    <a:spcPts val="3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282579" y="865575"/>
              <a:ext cx="9539077" cy="3017520"/>
              <a:chOff x="0" y="0"/>
              <a:chExt cx="9539077" cy="301752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539077" cy="3017520"/>
              </a:xfrm>
              <a:custGeom>
                <a:avLst/>
                <a:gdLst/>
                <a:ahLst/>
                <a:cxnLst/>
                <a:rect r="r" b="b" t="t" l="l"/>
                <a:pathLst>
                  <a:path h="3017520" w="9539077">
                    <a:moveTo>
                      <a:pt x="0" y="0"/>
                    </a:moveTo>
                    <a:lnTo>
                      <a:pt x="9539077" y="0"/>
                    </a:lnTo>
                    <a:lnTo>
                      <a:pt x="9539077" y="3017520"/>
                    </a:lnTo>
                    <a:lnTo>
                      <a:pt x="0" y="3017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319" r="-12537" b="-19319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23825"/>
                <a:ext cx="9539077" cy="31413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59"/>
                  </a:lnSpc>
                </a:pPr>
                <a:r>
                  <a:rPr lang="en-US" sz="274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2020</a:t>
                </a:r>
                <a:r>
                  <a:rPr lang="en-US" sz="274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model fails in 2024 (COVID ≠ rate hikes ≠ AI boom)</a:t>
                </a: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9855569" y="5492590"/>
            <a:ext cx="7561051" cy="2886857"/>
            <a:chOff x="0" y="0"/>
            <a:chExt cx="10081401" cy="3849142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16069" y="0"/>
              <a:ext cx="10065333" cy="135128"/>
              <a:chOff x="0" y="0"/>
              <a:chExt cx="10065333" cy="13512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1159" y="12700"/>
                <a:ext cx="10043015" cy="109728"/>
              </a:xfrm>
              <a:custGeom>
                <a:avLst/>
                <a:gdLst/>
                <a:ahLst/>
                <a:cxnLst/>
                <a:rect r="r" b="b" t="t" l="l"/>
                <a:pathLst>
                  <a:path h="109728" w="10043015">
                    <a:moveTo>
                      <a:pt x="0" y="0"/>
                    </a:moveTo>
                    <a:lnTo>
                      <a:pt x="10043015" y="0"/>
                    </a:lnTo>
                    <a:lnTo>
                      <a:pt x="10043015" y="109728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10B981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065333" cy="135128"/>
              </a:xfrm>
              <a:custGeom>
                <a:avLst/>
                <a:gdLst/>
                <a:ahLst/>
                <a:cxnLst/>
                <a:rect r="r" b="b" t="t" l="l"/>
                <a:pathLst>
                  <a:path h="135128" w="10065333">
                    <a:moveTo>
                      <a:pt x="11159" y="0"/>
                    </a:moveTo>
                    <a:lnTo>
                      <a:pt x="10054174" y="0"/>
                    </a:lnTo>
                    <a:cubicBezTo>
                      <a:pt x="10060311" y="0"/>
                      <a:pt x="10065333" y="5715"/>
                      <a:pt x="10065333" y="12700"/>
                    </a:cubicBezTo>
                    <a:lnTo>
                      <a:pt x="10065333" y="122428"/>
                    </a:lnTo>
                    <a:cubicBezTo>
                      <a:pt x="10065333" y="129413"/>
                      <a:pt x="10060311" y="135128"/>
                      <a:pt x="10054174" y="135128"/>
                    </a:cubicBezTo>
                    <a:lnTo>
                      <a:pt x="11159" y="135128"/>
                    </a:lnTo>
                    <a:cubicBezTo>
                      <a:pt x="5022" y="135128"/>
                      <a:pt x="0" y="129413"/>
                      <a:pt x="0" y="122428"/>
                    </a:cubicBezTo>
                    <a:lnTo>
                      <a:pt x="0" y="12700"/>
                    </a:lnTo>
                    <a:cubicBezTo>
                      <a:pt x="0" y="5715"/>
                      <a:pt x="5022" y="0"/>
                      <a:pt x="11159" y="0"/>
                    </a:cubicBezTo>
                    <a:moveTo>
                      <a:pt x="11159" y="25400"/>
                    </a:moveTo>
                    <a:lnTo>
                      <a:pt x="11159" y="12700"/>
                    </a:lnTo>
                    <a:lnTo>
                      <a:pt x="22318" y="12700"/>
                    </a:lnTo>
                    <a:lnTo>
                      <a:pt x="22318" y="122428"/>
                    </a:lnTo>
                    <a:lnTo>
                      <a:pt x="11159" y="122428"/>
                    </a:lnTo>
                    <a:lnTo>
                      <a:pt x="11159" y="109728"/>
                    </a:lnTo>
                    <a:lnTo>
                      <a:pt x="10054174" y="109728"/>
                    </a:lnTo>
                    <a:lnTo>
                      <a:pt x="10054174" y="122428"/>
                    </a:lnTo>
                    <a:lnTo>
                      <a:pt x="10043015" y="122428"/>
                    </a:lnTo>
                    <a:lnTo>
                      <a:pt x="10043015" y="12700"/>
                    </a:lnTo>
                    <a:lnTo>
                      <a:pt x="10054174" y="12700"/>
                    </a:lnTo>
                    <a:lnTo>
                      <a:pt x="10054174" y="25400"/>
                    </a:lnTo>
                    <a:lnTo>
                      <a:pt x="11159" y="25400"/>
                    </a:lnTo>
                    <a:close/>
                  </a:path>
                </a:pathLst>
              </a:custGeom>
              <a:solidFill>
                <a:srgbClr val="10B981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147828"/>
              <a:ext cx="10065333" cy="2924923"/>
              <a:chOff x="0" y="0"/>
              <a:chExt cx="10065333" cy="292492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1159" y="7625"/>
                <a:ext cx="10043015" cy="2909673"/>
              </a:xfrm>
              <a:custGeom>
                <a:avLst/>
                <a:gdLst/>
                <a:ahLst/>
                <a:cxnLst/>
                <a:rect r="r" b="b" t="t" l="l"/>
                <a:pathLst>
                  <a:path h="2909673" w="10043015">
                    <a:moveTo>
                      <a:pt x="0" y="0"/>
                    </a:moveTo>
                    <a:lnTo>
                      <a:pt x="10043015" y="0"/>
                    </a:lnTo>
                    <a:lnTo>
                      <a:pt x="10043015" y="2909673"/>
                    </a:lnTo>
                    <a:lnTo>
                      <a:pt x="0" y="290967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065333" cy="2924923"/>
              </a:xfrm>
              <a:custGeom>
                <a:avLst/>
                <a:gdLst/>
                <a:ahLst/>
                <a:cxnLst/>
                <a:rect r="r" b="b" t="t" l="l"/>
                <a:pathLst>
                  <a:path h="2924923" w="10065333">
                    <a:moveTo>
                      <a:pt x="11159" y="0"/>
                    </a:moveTo>
                    <a:lnTo>
                      <a:pt x="10054174" y="0"/>
                    </a:lnTo>
                    <a:cubicBezTo>
                      <a:pt x="10060311" y="0"/>
                      <a:pt x="10065333" y="3431"/>
                      <a:pt x="10065333" y="7625"/>
                    </a:cubicBezTo>
                    <a:lnTo>
                      <a:pt x="10065333" y="2917298"/>
                    </a:lnTo>
                    <a:cubicBezTo>
                      <a:pt x="10065333" y="2921492"/>
                      <a:pt x="10060311" y="2924923"/>
                      <a:pt x="10054174" y="2924923"/>
                    </a:cubicBezTo>
                    <a:lnTo>
                      <a:pt x="11159" y="2924923"/>
                    </a:lnTo>
                    <a:cubicBezTo>
                      <a:pt x="5022" y="2924923"/>
                      <a:pt x="0" y="2921492"/>
                      <a:pt x="0" y="2917298"/>
                    </a:cubicBezTo>
                    <a:lnTo>
                      <a:pt x="0" y="7625"/>
                    </a:lnTo>
                    <a:cubicBezTo>
                      <a:pt x="0" y="3431"/>
                      <a:pt x="5022" y="0"/>
                      <a:pt x="11159" y="0"/>
                    </a:cubicBezTo>
                    <a:moveTo>
                      <a:pt x="11159" y="15250"/>
                    </a:moveTo>
                    <a:lnTo>
                      <a:pt x="11159" y="7625"/>
                    </a:lnTo>
                    <a:lnTo>
                      <a:pt x="22318" y="7625"/>
                    </a:lnTo>
                    <a:lnTo>
                      <a:pt x="22318" y="2917298"/>
                    </a:lnTo>
                    <a:lnTo>
                      <a:pt x="11159" y="2917298"/>
                    </a:lnTo>
                    <a:lnTo>
                      <a:pt x="11159" y="2909673"/>
                    </a:lnTo>
                    <a:lnTo>
                      <a:pt x="10054174" y="2909673"/>
                    </a:lnTo>
                    <a:lnTo>
                      <a:pt x="10054174" y="2917298"/>
                    </a:lnTo>
                    <a:lnTo>
                      <a:pt x="10043015" y="2917298"/>
                    </a:lnTo>
                    <a:lnTo>
                      <a:pt x="10043015" y="7625"/>
                    </a:lnTo>
                    <a:lnTo>
                      <a:pt x="10054174" y="7625"/>
                    </a:lnTo>
                    <a:lnTo>
                      <a:pt x="10054174" y="15250"/>
                    </a:lnTo>
                    <a:lnTo>
                      <a:pt x="11159" y="152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300398" y="597775"/>
              <a:ext cx="857897" cy="976376"/>
              <a:chOff x="0" y="0"/>
              <a:chExt cx="857897" cy="97637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1159" y="12700"/>
                <a:ext cx="835579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35579">
                    <a:moveTo>
                      <a:pt x="0" y="475488"/>
                    </a:moveTo>
                    <a:cubicBezTo>
                      <a:pt x="0" y="212852"/>
                      <a:pt x="187023" y="0"/>
                      <a:pt x="417789" y="0"/>
                    </a:cubicBezTo>
                    <a:cubicBezTo>
                      <a:pt x="648555" y="0"/>
                      <a:pt x="835579" y="212852"/>
                      <a:pt x="835579" y="475488"/>
                    </a:cubicBezTo>
                    <a:cubicBezTo>
                      <a:pt x="835579" y="738124"/>
                      <a:pt x="648555" y="950976"/>
                      <a:pt x="417789" y="950976"/>
                    </a:cubicBezTo>
                    <a:cubicBezTo>
                      <a:pt x="187023" y="950976"/>
                      <a:pt x="0" y="738124"/>
                      <a:pt x="0" y="47548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57897" cy="976376"/>
              </a:xfrm>
              <a:custGeom>
                <a:avLst/>
                <a:gdLst/>
                <a:ahLst/>
                <a:cxnLst/>
                <a:rect r="r" b="b" t="t" l="l"/>
                <a:pathLst>
                  <a:path h="976376" w="857897">
                    <a:moveTo>
                      <a:pt x="0" y="488188"/>
                    </a:moveTo>
                    <a:cubicBezTo>
                      <a:pt x="0" y="218567"/>
                      <a:pt x="192045" y="0"/>
                      <a:pt x="428948" y="0"/>
                    </a:cubicBezTo>
                    <a:cubicBezTo>
                      <a:pt x="665852" y="0"/>
                      <a:pt x="857897" y="218567"/>
                      <a:pt x="857897" y="488188"/>
                    </a:cubicBezTo>
                    <a:lnTo>
                      <a:pt x="846738" y="488188"/>
                    </a:lnTo>
                    <a:lnTo>
                      <a:pt x="857897" y="488188"/>
                    </a:lnTo>
                    <a:cubicBezTo>
                      <a:pt x="857897" y="757809"/>
                      <a:pt x="665852" y="976376"/>
                      <a:pt x="428948" y="976376"/>
                    </a:cubicBezTo>
                    <a:lnTo>
                      <a:pt x="428948" y="963676"/>
                    </a:lnTo>
                    <a:lnTo>
                      <a:pt x="428948" y="976376"/>
                    </a:lnTo>
                    <a:cubicBezTo>
                      <a:pt x="192045" y="976376"/>
                      <a:pt x="0" y="757809"/>
                      <a:pt x="0" y="488188"/>
                    </a:cubicBezTo>
                    <a:lnTo>
                      <a:pt x="11159" y="488188"/>
                    </a:lnTo>
                    <a:lnTo>
                      <a:pt x="22318" y="488188"/>
                    </a:lnTo>
                    <a:lnTo>
                      <a:pt x="11159" y="488188"/>
                    </a:lnTo>
                    <a:lnTo>
                      <a:pt x="0" y="488188"/>
                    </a:lnTo>
                    <a:moveTo>
                      <a:pt x="22318" y="488188"/>
                    </a:moveTo>
                    <a:cubicBezTo>
                      <a:pt x="22318" y="495173"/>
                      <a:pt x="17296" y="500888"/>
                      <a:pt x="11159" y="500888"/>
                    </a:cubicBezTo>
                    <a:cubicBezTo>
                      <a:pt x="5022" y="500888"/>
                      <a:pt x="0" y="495173"/>
                      <a:pt x="0" y="488188"/>
                    </a:cubicBezTo>
                    <a:cubicBezTo>
                      <a:pt x="0" y="481203"/>
                      <a:pt x="5022" y="475488"/>
                      <a:pt x="11159" y="475488"/>
                    </a:cubicBezTo>
                    <a:cubicBezTo>
                      <a:pt x="17296" y="475488"/>
                      <a:pt x="22318" y="481203"/>
                      <a:pt x="22318" y="488188"/>
                    </a:cubicBezTo>
                    <a:cubicBezTo>
                      <a:pt x="22318" y="743839"/>
                      <a:pt x="204320" y="950976"/>
                      <a:pt x="428948" y="950976"/>
                    </a:cubicBezTo>
                    <a:cubicBezTo>
                      <a:pt x="653577" y="950976"/>
                      <a:pt x="835579" y="743839"/>
                      <a:pt x="835579" y="488188"/>
                    </a:cubicBezTo>
                    <a:cubicBezTo>
                      <a:pt x="835579" y="232537"/>
                      <a:pt x="653577" y="25400"/>
                      <a:pt x="428948" y="25400"/>
                    </a:cubicBezTo>
                    <a:lnTo>
                      <a:pt x="428948" y="12700"/>
                    </a:lnTo>
                    <a:lnTo>
                      <a:pt x="428948" y="25400"/>
                    </a:lnTo>
                    <a:cubicBezTo>
                      <a:pt x="204320" y="25400"/>
                      <a:pt x="22318" y="232537"/>
                      <a:pt x="22318" y="488188"/>
                    </a:cubicBezTo>
                    <a:close/>
                  </a:path>
                </a:pathLst>
              </a:custGeom>
              <a:solidFill>
                <a:srgbClr val="EF4444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300398" y="610475"/>
              <a:ext cx="835579" cy="950976"/>
              <a:chOff x="0" y="0"/>
              <a:chExt cx="835579" cy="950976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35579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35579">
                    <a:moveTo>
                      <a:pt x="0" y="0"/>
                    </a:moveTo>
                    <a:lnTo>
                      <a:pt x="835579" y="0"/>
                    </a:lnTo>
                    <a:lnTo>
                      <a:pt x="835579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9117" t="0" r="-102928" b="0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835579" cy="98907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⚖️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436374" y="738491"/>
              <a:ext cx="8355788" cy="832778"/>
              <a:chOff x="0" y="0"/>
              <a:chExt cx="8355788" cy="832778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355788" cy="832778"/>
              </a:xfrm>
              <a:custGeom>
                <a:avLst/>
                <a:gdLst/>
                <a:ahLst/>
                <a:cxnLst/>
                <a:rect r="r" b="b" t="t" l="l"/>
                <a:pathLst>
                  <a:path h="832778" w="8355788">
                    <a:moveTo>
                      <a:pt x="0" y="0"/>
                    </a:moveTo>
                    <a:lnTo>
                      <a:pt x="8355788" y="0"/>
                    </a:lnTo>
                    <a:lnTo>
                      <a:pt x="8355788" y="832778"/>
                    </a:lnTo>
                    <a:lnTo>
                      <a:pt x="0" y="8327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0781" r="-13810" b="-164230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9050"/>
                <a:ext cx="8355788" cy="8518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59"/>
                  </a:lnSpc>
                </a:pPr>
                <a:r>
                  <a:rPr lang="en-US" sz="3049" b="true">
                    <a:solidFill>
                      <a:srgbClr val="1A2B3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Class Imbalance Trap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300398" y="831622"/>
              <a:ext cx="9432400" cy="3017520"/>
              <a:chOff x="0" y="0"/>
              <a:chExt cx="9432400" cy="301752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432400" cy="3017520"/>
              </a:xfrm>
              <a:custGeom>
                <a:avLst/>
                <a:gdLst/>
                <a:ahLst/>
                <a:cxnLst/>
                <a:rect r="r" b="b" t="t" l="l"/>
                <a:pathLst>
                  <a:path h="3017520" w="9432400">
                    <a:moveTo>
                      <a:pt x="0" y="0"/>
                    </a:moveTo>
                    <a:lnTo>
                      <a:pt x="9432400" y="0"/>
                    </a:lnTo>
                    <a:lnTo>
                      <a:pt x="9432400" y="3017520"/>
                    </a:lnTo>
                    <a:lnTo>
                      <a:pt x="0" y="3017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319" r="-13810" b="-19319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23825"/>
                <a:ext cx="9432400" cy="31413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59"/>
                  </a:lnSpc>
                </a:pPr>
                <a:r>
                  <a:rPr lang="en-US" sz="274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Crashes &lt; 5% of days; broken model gets 90%+ accuracy with 0% Recall</a:t>
                </a:r>
              </a:p>
            </p:txBody>
          </p:sp>
        </p:grpSp>
      </p:grpSp>
      <p:grpSp>
        <p:nvGrpSpPr>
          <p:cNvPr name="Group 63" id="63"/>
          <p:cNvGrpSpPr/>
          <p:nvPr/>
        </p:nvGrpSpPr>
        <p:grpSpPr>
          <a:xfrm rot="0">
            <a:off x="9799357" y="2937043"/>
            <a:ext cx="7617263" cy="2295038"/>
            <a:chOff x="0" y="0"/>
            <a:chExt cx="10156351" cy="3060051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10106362" cy="135128"/>
              <a:chOff x="0" y="0"/>
              <a:chExt cx="10106362" cy="135128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11204" y="12700"/>
                <a:ext cx="10083953" cy="109728"/>
              </a:xfrm>
              <a:custGeom>
                <a:avLst/>
                <a:gdLst/>
                <a:ahLst/>
                <a:cxnLst/>
                <a:rect r="r" b="b" t="t" l="l"/>
                <a:pathLst>
                  <a:path h="109728" w="10083953">
                    <a:moveTo>
                      <a:pt x="0" y="0"/>
                    </a:moveTo>
                    <a:lnTo>
                      <a:pt x="10083953" y="0"/>
                    </a:lnTo>
                    <a:lnTo>
                      <a:pt x="10083953" y="109728"/>
                    </a:lnTo>
                    <a:lnTo>
                      <a:pt x="0" y="109728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0106362" cy="135128"/>
              </a:xfrm>
              <a:custGeom>
                <a:avLst/>
                <a:gdLst/>
                <a:ahLst/>
                <a:cxnLst/>
                <a:rect r="r" b="b" t="t" l="l"/>
                <a:pathLst>
                  <a:path h="135128" w="10106362">
                    <a:moveTo>
                      <a:pt x="11204" y="0"/>
                    </a:moveTo>
                    <a:lnTo>
                      <a:pt x="10095157" y="0"/>
                    </a:lnTo>
                    <a:cubicBezTo>
                      <a:pt x="10101320" y="0"/>
                      <a:pt x="10106362" y="5715"/>
                      <a:pt x="10106362" y="12700"/>
                    </a:cubicBezTo>
                    <a:lnTo>
                      <a:pt x="10106362" y="122428"/>
                    </a:lnTo>
                    <a:cubicBezTo>
                      <a:pt x="10106362" y="129413"/>
                      <a:pt x="10101320" y="135128"/>
                      <a:pt x="10095157" y="135128"/>
                    </a:cubicBezTo>
                    <a:lnTo>
                      <a:pt x="11204" y="135128"/>
                    </a:lnTo>
                    <a:cubicBezTo>
                      <a:pt x="5042" y="135128"/>
                      <a:pt x="0" y="129413"/>
                      <a:pt x="0" y="122428"/>
                    </a:cubicBezTo>
                    <a:lnTo>
                      <a:pt x="0" y="12700"/>
                    </a:lnTo>
                    <a:cubicBezTo>
                      <a:pt x="0" y="5715"/>
                      <a:pt x="5042" y="0"/>
                      <a:pt x="11204" y="0"/>
                    </a:cubicBezTo>
                    <a:moveTo>
                      <a:pt x="11204" y="25400"/>
                    </a:moveTo>
                    <a:lnTo>
                      <a:pt x="11204" y="12700"/>
                    </a:lnTo>
                    <a:lnTo>
                      <a:pt x="22409" y="12700"/>
                    </a:lnTo>
                    <a:lnTo>
                      <a:pt x="22409" y="122428"/>
                    </a:lnTo>
                    <a:lnTo>
                      <a:pt x="11204" y="122428"/>
                    </a:lnTo>
                    <a:lnTo>
                      <a:pt x="11204" y="109728"/>
                    </a:lnTo>
                    <a:lnTo>
                      <a:pt x="10095157" y="109728"/>
                    </a:lnTo>
                    <a:lnTo>
                      <a:pt x="10095157" y="122428"/>
                    </a:lnTo>
                    <a:lnTo>
                      <a:pt x="10083953" y="122428"/>
                    </a:lnTo>
                    <a:lnTo>
                      <a:pt x="10083953" y="12700"/>
                    </a:lnTo>
                    <a:lnTo>
                      <a:pt x="10095157" y="12700"/>
                    </a:lnTo>
                    <a:lnTo>
                      <a:pt x="10095157" y="25400"/>
                    </a:lnTo>
                    <a:lnTo>
                      <a:pt x="11204" y="25400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49988" y="135128"/>
              <a:ext cx="10106362" cy="2924923"/>
              <a:chOff x="0" y="0"/>
              <a:chExt cx="10106362" cy="2924923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11204" y="7625"/>
                <a:ext cx="10083953" cy="2909673"/>
              </a:xfrm>
              <a:custGeom>
                <a:avLst/>
                <a:gdLst/>
                <a:ahLst/>
                <a:cxnLst/>
                <a:rect r="r" b="b" t="t" l="l"/>
                <a:pathLst>
                  <a:path h="2909673" w="10083953">
                    <a:moveTo>
                      <a:pt x="0" y="0"/>
                    </a:moveTo>
                    <a:lnTo>
                      <a:pt x="10083953" y="0"/>
                    </a:lnTo>
                    <a:lnTo>
                      <a:pt x="10083953" y="2909673"/>
                    </a:lnTo>
                    <a:lnTo>
                      <a:pt x="0" y="290967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0106362" cy="2924923"/>
              </a:xfrm>
              <a:custGeom>
                <a:avLst/>
                <a:gdLst/>
                <a:ahLst/>
                <a:cxnLst/>
                <a:rect r="r" b="b" t="t" l="l"/>
                <a:pathLst>
                  <a:path h="2924923" w="10106362">
                    <a:moveTo>
                      <a:pt x="11204" y="0"/>
                    </a:moveTo>
                    <a:lnTo>
                      <a:pt x="10095157" y="0"/>
                    </a:lnTo>
                    <a:cubicBezTo>
                      <a:pt x="10101320" y="0"/>
                      <a:pt x="10106362" y="3431"/>
                      <a:pt x="10106362" y="7625"/>
                    </a:cubicBezTo>
                    <a:lnTo>
                      <a:pt x="10106362" y="2917298"/>
                    </a:lnTo>
                    <a:cubicBezTo>
                      <a:pt x="10106362" y="2921492"/>
                      <a:pt x="10101320" y="2924923"/>
                      <a:pt x="10095157" y="2924923"/>
                    </a:cubicBezTo>
                    <a:lnTo>
                      <a:pt x="11204" y="2924923"/>
                    </a:lnTo>
                    <a:cubicBezTo>
                      <a:pt x="5042" y="2924923"/>
                      <a:pt x="0" y="2921492"/>
                      <a:pt x="0" y="2917298"/>
                    </a:cubicBezTo>
                    <a:lnTo>
                      <a:pt x="0" y="7625"/>
                    </a:lnTo>
                    <a:cubicBezTo>
                      <a:pt x="0" y="3431"/>
                      <a:pt x="5042" y="0"/>
                      <a:pt x="11204" y="0"/>
                    </a:cubicBezTo>
                    <a:moveTo>
                      <a:pt x="11204" y="15250"/>
                    </a:moveTo>
                    <a:lnTo>
                      <a:pt x="11204" y="7625"/>
                    </a:lnTo>
                    <a:lnTo>
                      <a:pt x="22409" y="7625"/>
                    </a:lnTo>
                    <a:lnTo>
                      <a:pt x="22409" y="2917298"/>
                    </a:lnTo>
                    <a:lnTo>
                      <a:pt x="11204" y="2917298"/>
                    </a:lnTo>
                    <a:lnTo>
                      <a:pt x="11204" y="2909673"/>
                    </a:lnTo>
                    <a:lnTo>
                      <a:pt x="10095157" y="2909673"/>
                    </a:lnTo>
                    <a:lnTo>
                      <a:pt x="10095157" y="2917298"/>
                    </a:lnTo>
                    <a:lnTo>
                      <a:pt x="10083953" y="2917298"/>
                    </a:lnTo>
                    <a:lnTo>
                      <a:pt x="10083953" y="7625"/>
                    </a:lnTo>
                    <a:lnTo>
                      <a:pt x="10095157" y="7625"/>
                    </a:lnTo>
                    <a:lnTo>
                      <a:pt x="10095157" y="15250"/>
                    </a:lnTo>
                    <a:lnTo>
                      <a:pt x="11204" y="1525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351611" y="585075"/>
              <a:ext cx="861394" cy="976376"/>
              <a:chOff x="0" y="0"/>
              <a:chExt cx="861394" cy="976376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11204" y="12700"/>
                <a:ext cx="838985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38985">
                    <a:moveTo>
                      <a:pt x="0" y="475488"/>
                    </a:moveTo>
                    <a:cubicBezTo>
                      <a:pt x="0" y="212852"/>
                      <a:pt x="187786" y="0"/>
                      <a:pt x="419493" y="0"/>
                    </a:cubicBezTo>
                    <a:cubicBezTo>
                      <a:pt x="651200" y="0"/>
                      <a:pt x="838985" y="212852"/>
                      <a:pt x="838985" y="475488"/>
                    </a:cubicBezTo>
                    <a:cubicBezTo>
                      <a:pt x="838985" y="738124"/>
                      <a:pt x="651200" y="950976"/>
                      <a:pt x="419493" y="950976"/>
                    </a:cubicBezTo>
                    <a:cubicBezTo>
                      <a:pt x="187786" y="950976"/>
                      <a:pt x="0" y="738124"/>
                      <a:pt x="0" y="47548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861394" cy="976376"/>
              </a:xfrm>
              <a:custGeom>
                <a:avLst/>
                <a:gdLst/>
                <a:ahLst/>
                <a:cxnLst/>
                <a:rect r="r" b="b" t="t" l="l"/>
                <a:pathLst>
                  <a:path h="976376" w="861394">
                    <a:moveTo>
                      <a:pt x="0" y="488188"/>
                    </a:moveTo>
                    <a:cubicBezTo>
                      <a:pt x="0" y="218567"/>
                      <a:pt x="192828" y="0"/>
                      <a:pt x="430697" y="0"/>
                    </a:cubicBezTo>
                    <a:cubicBezTo>
                      <a:pt x="668566" y="0"/>
                      <a:pt x="861394" y="218567"/>
                      <a:pt x="861394" y="488188"/>
                    </a:cubicBezTo>
                    <a:lnTo>
                      <a:pt x="850189" y="488188"/>
                    </a:lnTo>
                    <a:lnTo>
                      <a:pt x="861394" y="488188"/>
                    </a:lnTo>
                    <a:cubicBezTo>
                      <a:pt x="861394" y="757809"/>
                      <a:pt x="668566" y="976376"/>
                      <a:pt x="430697" y="976376"/>
                    </a:cubicBezTo>
                    <a:lnTo>
                      <a:pt x="430697" y="963676"/>
                    </a:lnTo>
                    <a:lnTo>
                      <a:pt x="430697" y="976376"/>
                    </a:lnTo>
                    <a:cubicBezTo>
                      <a:pt x="192828" y="976376"/>
                      <a:pt x="0" y="757809"/>
                      <a:pt x="0" y="488188"/>
                    </a:cubicBezTo>
                    <a:lnTo>
                      <a:pt x="11204" y="488188"/>
                    </a:lnTo>
                    <a:lnTo>
                      <a:pt x="22409" y="488188"/>
                    </a:lnTo>
                    <a:lnTo>
                      <a:pt x="11204" y="488188"/>
                    </a:lnTo>
                    <a:lnTo>
                      <a:pt x="0" y="488188"/>
                    </a:lnTo>
                    <a:moveTo>
                      <a:pt x="22409" y="488188"/>
                    </a:moveTo>
                    <a:cubicBezTo>
                      <a:pt x="22409" y="495173"/>
                      <a:pt x="17367" y="500888"/>
                      <a:pt x="11204" y="500888"/>
                    </a:cubicBezTo>
                    <a:cubicBezTo>
                      <a:pt x="5042" y="500888"/>
                      <a:pt x="0" y="495173"/>
                      <a:pt x="0" y="488188"/>
                    </a:cubicBezTo>
                    <a:cubicBezTo>
                      <a:pt x="0" y="481203"/>
                      <a:pt x="5042" y="475488"/>
                      <a:pt x="11204" y="475488"/>
                    </a:cubicBezTo>
                    <a:cubicBezTo>
                      <a:pt x="17367" y="475488"/>
                      <a:pt x="22409" y="481203"/>
                      <a:pt x="22409" y="488188"/>
                    </a:cubicBezTo>
                    <a:cubicBezTo>
                      <a:pt x="22409" y="743839"/>
                      <a:pt x="205152" y="950976"/>
                      <a:pt x="430697" y="950976"/>
                    </a:cubicBezTo>
                    <a:cubicBezTo>
                      <a:pt x="656241" y="950976"/>
                      <a:pt x="838985" y="743839"/>
                      <a:pt x="838985" y="488188"/>
                    </a:cubicBezTo>
                    <a:cubicBezTo>
                      <a:pt x="838985" y="232537"/>
                      <a:pt x="656241" y="25400"/>
                      <a:pt x="430697" y="25400"/>
                    </a:cubicBezTo>
                    <a:lnTo>
                      <a:pt x="430697" y="12700"/>
                    </a:lnTo>
                    <a:lnTo>
                      <a:pt x="430697" y="25400"/>
                    </a:lnTo>
                    <a:cubicBezTo>
                      <a:pt x="205152" y="25400"/>
                      <a:pt x="22409" y="232537"/>
                      <a:pt x="22409" y="488188"/>
                    </a:cubicBezTo>
                    <a:close/>
                  </a:path>
                </a:pathLst>
              </a:custGeom>
              <a:solidFill>
                <a:srgbClr val="EF4444"/>
              </a:solidFill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351611" y="597775"/>
              <a:ext cx="838985" cy="950976"/>
              <a:chOff x="0" y="0"/>
              <a:chExt cx="838985" cy="950976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38985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38985">
                    <a:moveTo>
                      <a:pt x="0" y="0"/>
                    </a:moveTo>
                    <a:lnTo>
                      <a:pt x="838985" y="0"/>
                    </a:lnTo>
                    <a:lnTo>
                      <a:pt x="838985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8755" t="0" r="-102104" b="0"/>
                </a:stretch>
              </a:blip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838985" cy="98907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📉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1492218" y="725791"/>
              <a:ext cx="8389849" cy="832778"/>
              <a:chOff x="0" y="0"/>
              <a:chExt cx="8389849" cy="832778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389849" cy="832778"/>
              </a:xfrm>
              <a:custGeom>
                <a:avLst/>
                <a:gdLst/>
                <a:ahLst/>
                <a:cxnLst/>
                <a:rect r="r" b="b" t="t" l="l"/>
                <a:pathLst>
                  <a:path h="832778" w="8389849">
                    <a:moveTo>
                      <a:pt x="0" y="0"/>
                    </a:moveTo>
                    <a:lnTo>
                      <a:pt x="8389849" y="0"/>
                    </a:lnTo>
                    <a:lnTo>
                      <a:pt x="8389849" y="832778"/>
                    </a:lnTo>
                    <a:lnTo>
                      <a:pt x="0" y="8327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0781" r="-13348" b="-164230"/>
                </a:stretch>
              </a:blip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19050"/>
                <a:ext cx="8389849" cy="8518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659"/>
                  </a:lnSpc>
                </a:pPr>
                <a:r>
                  <a:rPr lang="en-US" sz="3049" b="true">
                    <a:solidFill>
                      <a:srgbClr val="1A2B3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Wrong Geometry</a:t>
                </a: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129535" y="1323034"/>
              <a:ext cx="9470849" cy="1389803"/>
              <a:chOff x="0" y="0"/>
              <a:chExt cx="9470849" cy="138980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470849" cy="1389804"/>
              </a:xfrm>
              <a:custGeom>
                <a:avLst/>
                <a:gdLst/>
                <a:ahLst/>
                <a:cxnLst/>
                <a:rect r="r" b="b" t="t" l="l"/>
                <a:pathLst>
                  <a:path h="1389804" w="9470849">
                    <a:moveTo>
                      <a:pt x="0" y="0"/>
                    </a:moveTo>
                    <a:lnTo>
                      <a:pt x="9470849" y="0"/>
                    </a:lnTo>
                    <a:lnTo>
                      <a:pt x="9470849" y="1389804"/>
                    </a:lnTo>
                    <a:lnTo>
                      <a:pt x="0" y="13898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1946" r="-13348" b="-159064"/>
                </a:stretch>
              </a:blip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123825"/>
                <a:ext cx="9470849" cy="15136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59"/>
                  </a:lnSpc>
                </a:pPr>
                <a:r>
                  <a:rPr lang="en-US" sz="274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ML assumes Euclidean space; crashes are non-Euclidean</a:t>
                </a: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67745" y="550164"/>
              <a:ext cx="861394" cy="976376"/>
              <a:chOff x="0" y="0"/>
              <a:chExt cx="861394" cy="976376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11204" y="12700"/>
                <a:ext cx="838985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38985">
                    <a:moveTo>
                      <a:pt x="0" y="475488"/>
                    </a:moveTo>
                    <a:cubicBezTo>
                      <a:pt x="0" y="212852"/>
                      <a:pt x="187786" y="0"/>
                      <a:pt x="419493" y="0"/>
                    </a:cubicBezTo>
                    <a:cubicBezTo>
                      <a:pt x="651200" y="0"/>
                      <a:pt x="838985" y="212852"/>
                      <a:pt x="838985" y="475488"/>
                    </a:cubicBezTo>
                    <a:cubicBezTo>
                      <a:pt x="838985" y="738124"/>
                      <a:pt x="651200" y="950976"/>
                      <a:pt x="419493" y="950976"/>
                    </a:cubicBezTo>
                    <a:cubicBezTo>
                      <a:pt x="187786" y="950976"/>
                      <a:pt x="0" y="738124"/>
                      <a:pt x="0" y="475488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861394" cy="976376"/>
              </a:xfrm>
              <a:custGeom>
                <a:avLst/>
                <a:gdLst/>
                <a:ahLst/>
                <a:cxnLst/>
                <a:rect r="r" b="b" t="t" l="l"/>
                <a:pathLst>
                  <a:path h="976376" w="861394">
                    <a:moveTo>
                      <a:pt x="0" y="488188"/>
                    </a:moveTo>
                    <a:cubicBezTo>
                      <a:pt x="0" y="218567"/>
                      <a:pt x="192828" y="0"/>
                      <a:pt x="430697" y="0"/>
                    </a:cubicBezTo>
                    <a:cubicBezTo>
                      <a:pt x="668566" y="0"/>
                      <a:pt x="861394" y="218567"/>
                      <a:pt x="861394" y="488188"/>
                    </a:cubicBezTo>
                    <a:lnTo>
                      <a:pt x="850189" y="488188"/>
                    </a:lnTo>
                    <a:lnTo>
                      <a:pt x="861394" y="488188"/>
                    </a:lnTo>
                    <a:cubicBezTo>
                      <a:pt x="861394" y="757809"/>
                      <a:pt x="668566" y="976376"/>
                      <a:pt x="430697" y="976376"/>
                    </a:cubicBezTo>
                    <a:lnTo>
                      <a:pt x="430697" y="963676"/>
                    </a:lnTo>
                    <a:lnTo>
                      <a:pt x="430697" y="976376"/>
                    </a:lnTo>
                    <a:cubicBezTo>
                      <a:pt x="192828" y="976376"/>
                      <a:pt x="0" y="757809"/>
                      <a:pt x="0" y="488188"/>
                    </a:cubicBezTo>
                    <a:lnTo>
                      <a:pt x="11204" y="488188"/>
                    </a:lnTo>
                    <a:lnTo>
                      <a:pt x="22409" y="488188"/>
                    </a:lnTo>
                    <a:lnTo>
                      <a:pt x="11204" y="488188"/>
                    </a:lnTo>
                    <a:lnTo>
                      <a:pt x="0" y="488188"/>
                    </a:lnTo>
                    <a:moveTo>
                      <a:pt x="22409" y="488188"/>
                    </a:moveTo>
                    <a:cubicBezTo>
                      <a:pt x="22409" y="495173"/>
                      <a:pt x="17367" y="500888"/>
                      <a:pt x="11204" y="500888"/>
                    </a:cubicBezTo>
                    <a:cubicBezTo>
                      <a:pt x="5042" y="500888"/>
                      <a:pt x="0" y="495173"/>
                      <a:pt x="0" y="488188"/>
                    </a:cubicBezTo>
                    <a:cubicBezTo>
                      <a:pt x="0" y="481203"/>
                      <a:pt x="5042" y="475488"/>
                      <a:pt x="11204" y="475488"/>
                    </a:cubicBezTo>
                    <a:cubicBezTo>
                      <a:pt x="17367" y="475488"/>
                      <a:pt x="22409" y="481203"/>
                      <a:pt x="22409" y="488188"/>
                    </a:cubicBezTo>
                    <a:cubicBezTo>
                      <a:pt x="22409" y="743839"/>
                      <a:pt x="205152" y="950976"/>
                      <a:pt x="430697" y="950976"/>
                    </a:cubicBezTo>
                    <a:cubicBezTo>
                      <a:pt x="656241" y="950976"/>
                      <a:pt x="838985" y="743839"/>
                      <a:pt x="838985" y="488188"/>
                    </a:cubicBezTo>
                    <a:cubicBezTo>
                      <a:pt x="838985" y="232537"/>
                      <a:pt x="656241" y="25400"/>
                      <a:pt x="430697" y="25400"/>
                    </a:cubicBezTo>
                    <a:lnTo>
                      <a:pt x="430697" y="12700"/>
                    </a:lnTo>
                    <a:lnTo>
                      <a:pt x="430697" y="25400"/>
                    </a:lnTo>
                    <a:cubicBezTo>
                      <a:pt x="205152" y="25400"/>
                      <a:pt x="22409" y="232537"/>
                      <a:pt x="22409" y="488188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417492" y="575564"/>
              <a:ext cx="838985" cy="950976"/>
              <a:chOff x="0" y="0"/>
              <a:chExt cx="838985" cy="950976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38985" cy="950976"/>
              </a:xfrm>
              <a:custGeom>
                <a:avLst/>
                <a:gdLst/>
                <a:ahLst/>
                <a:cxnLst/>
                <a:rect r="r" b="b" t="t" l="l"/>
                <a:pathLst>
                  <a:path h="950976" w="838985">
                    <a:moveTo>
                      <a:pt x="0" y="0"/>
                    </a:moveTo>
                    <a:lnTo>
                      <a:pt x="838985" y="0"/>
                    </a:lnTo>
                    <a:lnTo>
                      <a:pt x="838985" y="950976"/>
                    </a:lnTo>
                    <a:lnTo>
                      <a:pt x="0" y="9509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8755" t="0" r="-102104" b="0"/>
                </a:stretch>
              </a:blip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838985" cy="98907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📐</a:t>
                </a:r>
              </a:p>
            </p:txBody>
          </p:sp>
        </p:grpSp>
      </p:grpSp>
      <p:grpSp>
        <p:nvGrpSpPr>
          <p:cNvPr name="Group 88" id="88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do Crash Prediction Models Fail?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5047" y="5651071"/>
            <a:ext cx="16092384" cy="2925954"/>
            <a:chOff x="0" y="0"/>
            <a:chExt cx="21456512" cy="390127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86130" y="-28575"/>
              <a:ext cx="21170381" cy="185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8207" indent="-324103" lvl="1">
                <a:lnSpc>
                  <a:spcPts val="3602"/>
                </a:lnSpc>
                <a:buFont typeface="Arial"/>
                <a:buChar char="•"/>
              </a:pPr>
              <a:r>
                <a:rPr lang="en-US" b="true" sz="3002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Primary test asset: A</a:t>
              </a:r>
              <a:r>
                <a:rPr lang="en-US" b="true" sz="3002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APL — Apple Inc., 2-year rolling window</a:t>
              </a:r>
            </a:p>
            <a:p>
              <a:pPr algn="l" marL="648207" indent="-324103" lvl="1">
                <a:lnSpc>
                  <a:spcPts val="3602"/>
                </a:lnSpc>
                <a:buFont typeface="Arial"/>
                <a:buChar char="•"/>
              </a:pPr>
              <a:r>
                <a:rPr lang="en-US" b="true" sz="3002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Format: OHLCV daily bars </a:t>
              </a:r>
            </a:p>
            <a:p>
              <a:pPr algn="l" marL="648206" indent="-324103" lvl="1">
                <a:lnSpc>
                  <a:spcPts val="3602"/>
                </a:lnSpc>
                <a:buFont typeface="Arial"/>
                <a:buChar char="•"/>
              </a:pPr>
              <a:r>
                <a:rPr lang="en-US" b="true" sz="3002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Minimum required: 60 trading days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43897"/>
              <a:ext cx="21456512" cy="185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3"/>
                </a:lnSpc>
              </a:pPr>
              <a:r>
                <a:rPr lang="en-US" sz="3002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threshold is adaptive — a 1.5x ATR drop for volatile TSLA represents a larger absolute move than for stable MSFT. No fixed percentage threshold is used. The model scales to each stock's own volatility regime.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42461" y="685800"/>
            <a:ext cx="13861236" cy="703777"/>
            <a:chOff x="0" y="0"/>
            <a:chExt cx="18481648" cy="9383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81649" cy="938370"/>
            </a:xfrm>
            <a:custGeom>
              <a:avLst/>
              <a:gdLst/>
              <a:ahLst/>
              <a:cxnLst/>
              <a:rect r="r" b="b" t="t" l="l"/>
              <a:pathLst>
                <a:path h="938370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38370"/>
                  </a:lnTo>
                  <a:lnTo>
                    <a:pt x="0" y="938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782" r="-14784" b="-3892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8481648" cy="966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5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and Adaptive Target Formulation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9290" y="3311869"/>
            <a:ext cx="15909420" cy="1948677"/>
            <a:chOff x="0" y="0"/>
            <a:chExt cx="21212560" cy="259823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22231" cy="2598235"/>
              <a:chOff x="0" y="0"/>
              <a:chExt cx="139822" cy="163474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11575" y="12700"/>
                <a:ext cx="116673" cy="1609344"/>
              </a:xfrm>
              <a:custGeom>
                <a:avLst/>
                <a:gdLst/>
                <a:ahLst/>
                <a:cxnLst/>
                <a:rect r="r" b="b" t="t" l="l"/>
                <a:pathLst>
                  <a:path h="1609344" w="116673">
                    <a:moveTo>
                      <a:pt x="0" y="0"/>
                    </a:moveTo>
                    <a:lnTo>
                      <a:pt x="116673" y="0"/>
                    </a:lnTo>
                    <a:lnTo>
                      <a:pt x="116673" y="1609344"/>
                    </a:lnTo>
                    <a:lnTo>
                      <a:pt x="0" y="1609344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9822" cy="1634744"/>
              </a:xfrm>
              <a:custGeom>
                <a:avLst/>
                <a:gdLst/>
                <a:ahLst/>
                <a:cxnLst/>
                <a:rect r="r" b="b" t="t" l="l"/>
                <a:pathLst>
                  <a:path h="1634744" w="139822">
                    <a:moveTo>
                      <a:pt x="11575" y="0"/>
                    </a:moveTo>
                    <a:lnTo>
                      <a:pt x="128248" y="0"/>
                    </a:lnTo>
                    <a:cubicBezTo>
                      <a:pt x="134614" y="0"/>
                      <a:pt x="139822" y="5715"/>
                      <a:pt x="139822" y="12700"/>
                    </a:cubicBezTo>
                    <a:lnTo>
                      <a:pt x="139822" y="1622044"/>
                    </a:lnTo>
                    <a:cubicBezTo>
                      <a:pt x="139822" y="1629029"/>
                      <a:pt x="134614" y="1634744"/>
                      <a:pt x="128248" y="1634744"/>
                    </a:cubicBezTo>
                    <a:lnTo>
                      <a:pt x="11575" y="1634744"/>
                    </a:lnTo>
                    <a:cubicBezTo>
                      <a:pt x="5209" y="1634744"/>
                      <a:pt x="0" y="1629029"/>
                      <a:pt x="0" y="1622044"/>
                    </a:cubicBezTo>
                    <a:lnTo>
                      <a:pt x="0" y="12700"/>
                    </a:lnTo>
                    <a:cubicBezTo>
                      <a:pt x="0" y="5715"/>
                      <a:pt x="5209" y="0"/>
                      <a:pt x="11575" y="0"/>
                    </a:cubicBezTo>
                    <a:moveTo>
                      <a:pt x="11575" y="25400"/>
                    </a:moveTo>
                    <a:lnTo>
                      <a:pt x="11575" y="12700"/>
                    </a:lnTo>
                    <a:lnTo>
                      <a:pt x="23149" y="12700"/>
                    </a:lnTo>
                    <a:lnTo>
                      <a:pt x="23149" y="1622044"/>
                    </a:lnTo>
                    <a:lnTo>
                      <a:pt x="11575" y="1622044"/>
                    </a:lnTo>
                    <a:lnTo>
                      <a:pt x="11575" y="1609344"/>
                    </a:lnTo>
                    <a:lnTo>
                      <a:pt x="128248" y="1609344"/>
                    </a:lnTo>
                    <a:lnTo>
                      <a:pt x="128248" y="1622044"/>
                    </a:lnTo>
                    <a:lnTo>
                      <a:pt x="116673" y="1622044"/>
                    </a:lnTo>
                    <a:lnTo>
                      <a:pt x="116673" y="12700"/>
                    </a:lnTo>
                    <a:lnTo>
                      <a:pt x="128248" y="12700"/>
                    </a:lnTo>
                    <a:lnTo>
                      <a:pt x="128248" y="25400"/>
                    </a:lnTo>
                    <a:lnTo>
                      <a:pt x="11575" y="25400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222231" y="0"/>
              <a:ext cx="9690340" cy="2598235"/>
              <a:chOff x="0" y="0"/>
              <a:chExt cx="9690340" cy="259823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11575" y="20185"/>
                <a:ext cx="9667191" cy="2557865"/>
              </a:xfrm>
              <a:custGeom>
                <a:avLst/>
                <a:gdLst/>
                <a:ahLst/>
                <a:cxnLst/>
                <a:rect r="r" b="b" t="t" l="l"/>
                <a:pathLst>
                  <a:path h="2557865" w="9667191">
                    <a:moveTo>
                      <a:pt x="0" y="0"/>
                    </a:moveTo>
                    <a:lnTo>
                      <a:pt x="9667191" y="0"/>
                    </a:lnTo>
                    <a:lnTo>
                      <a:pt x="9667191" y="2557865"/>
                    </a:lnTo>
                    <a:lnTo>
                      <a:pt x="0" y="255786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690340" cy="2598236"/>
              </a:xfrm>
              <a:custGeom>
                <a:avLst/>
                <a:gdLst/>
                <a:ahLst/>
                <a:cxnLst/>
                <a:rect r="r" b="b" t="t" l="l"/>
                <a:pathLst>
                  <a:path h="2598236" w="9690340">
                    <a:moveTo>
                      <a:pt x="11575" y="0"/>
                    </a:moveTo>
                    <a:lnTo>
                      <a:pt x="9678766" y="0"/>
                    </a:lnTo>
                    <a:cubicBezTo>
                      <a:pt x="9685131" y="0"/>
                      <a:pt x="9690340" y="9083"/>
                      <a:pt x="9690340" y="20185"/>
                    </a:cubicBezTo>
                    <a:lnTo>
                      <a:pt x="9690340" y="2578050"/>
                    </a:lnTo>
                    <a:cubicBezTo>
                      <a:pt x="9690340" y="2589152"/>
                      <a:pt x="9685131" y="2598236"/>
                      <a:pt x="9678766" y="2598236"/>
                    </a:cubicBezTo>
                    <a:lnTo>
                      <a:pt x="11575" y="2598236"/>
                    </a:lnTo>
                    <a:cubicBezTo>
                      <a:pt x="5209" y="2598236"/>
                      <a:pt x="0" y="2589152"/>
                      <a:pt x="0" y="2578050"/>
                    </a:cubicBezTo>
                    <a:lnTo>
                      <a:pt x="0" y="20185"/>
                    </a:lnTo>
                    <a:cubicBezTo>
                      <a:pt x="0" y="9083"/>
                      <a:pt x="5209" y="0"/>
                      <a:pt x="11575" y="0"/>
                    </a:cubicBezTo>
                    <a:moveTo>
                      <a:pt x="11575" y="40370"/>
                    </a:moveTo>
                    <a:lnTo>
                      <a:pt x="11575" y="20185"/>
                    </a:lnTo>
                    <a:lnTo>
                      <a:pt x="23149" y="20185"/>
                    </a:lnTo>
                    <a:lnTo>
                      <a:pt x="23149" y="2578050"/>
                    </a:lnTo>
                    <a:lnTo>
                      <a:pt x="11575" y="2578050"/>
                    </a:lnTo>
                    <a:lnTo>
                      <a:pt x="11575" y="2557865"/>
                    </a:lnTo>
                    <a:lnTo>
                      <a:pt x="9678766" y="2557865"/>
                    </a:lnTo>
                    <a:lnTo>
                      <a:pt x="9678766" y="2578050"/>
                    </a:lnTo>
                    <a:lnTo>
                      <a:pt x="9667191" y="2578050"/>
                    </a:lnTo>
                    <a:lnTo>
                      <a:pt x="9667191" y="20185"/>
                    </a:lnTo>
                    <a:lnTo>
                      <a:pt x="9678766" y="20185"/>
                    </a:lnTo>
                    <a:lnTo>
                      <a:pt x="9678766" y="40370"/>
                    </a:lnTo>
                    <a:lnTo>
                      <a:pt x="11575" y="4037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475830" y="162855"/>
              <a:ext cx="9000488" cy="845048"/>
              <a:chOff x="0" y="0"/>
              <a:chExt cx="9000488" cy="84504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000488" cy="845048"/>
              </a:xfrm>
              <a:custGeom>
                <a:avLst/>
                <a:gdLst/>
                <a:ahLst/>
                <a:cxnLst/>
                <a:rect r="r" b="b" t="t" l="l"/>
                <a:pathLst>
                  <a:path h="845048" w="9000488">
                    <a:moveTo>
                      <a:pt x="0" y="0"/>
                    </a:moveTo>
                    <a:lnTo>
                      <a:pt x="9000488" y="0"/>
                    </a:lnTo>
                    <a:lnTo>
                      <a:pt x="9000488" y="845048"/>
                    </a:lnTo>
                    <a:lnTo>
                      <a:pt x="0" y="8450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7411" r="-9722" b="-158006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9000488" cy="8640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1A2B3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Yahoo Finance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75830" y="1018757"/>
              <a:ext cx="9000488" cy="723578"/>
              <a:chOff x="0" y="0"/>
              <a:chExt cx="9000488" cy="72357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000488" cy="723578"/>
              </a:xfrm>
              <a:custGeom>
                <a:avLst/>
                <a:gdLst/>
                <a:ahLst/>
                <a:cxnLst/>
                <a:rect r="r" b="b" t="t" l="l"/>
                <a:pathLst>
                  <a:path h="723578" w="9000488">
                    <a:moveTo>
                      <a:pt x="0" y="0"/>
                    </a:moveTo>
                    <a:lnTo>
                      <a:pt x="9000488" y="0"/>
                    </a:lnTo>
                    <a:lnTo>
                      <a:pt x="9000488" y="723578"/>
                    </a:lnTo>
                    <a:lnTo>
                      <a:pt x="0" y="7235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0660" r="-9722" b="-191209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9000488" cy="780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Library: yfinance ≥0.2.0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62602" y="1701300"/>
              <a:ext cx="9000488" cy="723578"/>
              <a:chOff x="0" y="0"/>
              <a:chExt cx="9000488" cy="72357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000488" cy="723578"/>
              </a:xfrm>
              <a:custGeom>
                <a:avLst/>
                <a:gdLst/>
                <a:ahLst/>
                <a:cxnLst/>
                <a:rect r="r" b="b" t="t" l="l"/>
                <a:pathLst>
                  <a:path h="723578" w="9000488">
                    <a:moveTo>
                      <a:pt x="0" y="0"/>
                    </a:moveTo>
                    <a:lnTo>
                      <a:pt x="9000488" y="0"/>
                    </a:lnTo>
                    <a:lnTo>
                      <a:pt x="9000488" y="723578"/>
                    </a:lnTo>
                    <a:lnTo>
                      <a:pt x="0" y="7235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0660" r="-9722" b="-191209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9000488" cy="780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Coverage: US equities, ETFs, crypto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299988" y="0"/>
              <a:ext cx="222231" cy="2598235"/>
              <a:chOff x="0" y="0"/>
              <a:chExt cx="139822" cy="163474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1575" y="12700"/>
                <a:ext cx="116673" cy="1609344"/>
              </a:xfrm>
              <a:custGeom>
                <a:avLst/>
                <a:gdLst/>
                <a:ahLst/>
                <a:cxnLst/>
                <a:rect r="r" b="b" t="t" l="l"/>
                <a:pathLst>
                  <a:path h="1609344" w="116673">
                    <a:moveTo>
                      <a:pt x="0" y="0"/>
                    </a:moveTo>
                    <a:lnTo>
                      <a:pt x="116673" y="0"/>
                    </a:lnTo>
                    <a:lnTo>
                      <a:pt x="116673" y="1609344"/>
                    </a:lnTo>
                    <a:lnTo>
                      <a:pt x="0" y="1609344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9822" cy="1634744"/>
              </a:xfrm>
              <a:custGeom>
                <a:avLst/>
                <a:gdLst/>
                <a:ahLst/>
                <a:cxnLst/>
                <a:rect r="r" b="b" t="t" l="l"/>
                <a:pathLst>
                  <a:path h="1634744" w="139822">
                    <a:moveTo>
                      <a:pt x="11575" y="0"/>
                    </a:moveTo>
                    <a:lnTo>
                      <a:pt x="128248" y="0"/>
                    </a:lnTo>
                    <a:cubicBezTo>
                      <a:pt x="134614" y="0"/>
                      <a:pt x="139822" y="5715"/>
                      <a:pt x="139822" y="12700"/>
                    </a:cubicBezTo>
                    <a:lnTo>
                      <a:pt x="139822" y="1622044"/>
                    </a:lnTo>
                    <a:cubicBezTo>
                      <a:pt x="139822" y="1629029"/>
                      <a:pt x="134614" y="1634744"/>
                      <a:pt x="128248" y="1634744"/>
                    </a:cubicBezTo>
                    <a:lnTo>
                      <a:pt x="11575" y="1634744"/>
                    </a:lnTo>
                    <a:cubicBezTo>
                      <a:pt x="5209" y="1634744"/>
                      <a:pt x="0" y="1629029"/>
                      <a:pt x="0" y="1622044"/>
                    </a:cubicBezTo>
                    <a:lnTo>
                      <a:pt x="0" y="12700"/>
                    </a:lnTo>
                    <a:cubicBezTo>
                      <a:pt x="0" y="5715"/>
                      <a:pt x="5209" y="0"/>
                      <a:pt x="11575" y="0"/>
                    </a:cubicBezTo>
                    <a:moveTo>
                      <a:pt x="11575" y="25400"/>
                    </a:moveTo>
                    <a:lnTo>
                      <a:pt x="11575" y="12700"/>
                    </a:lnTo>
                    <a:lnTo>
                      <a:pt x="23149" y="12700"/>
                    </a:lnTo>
                    <a:lnTo>
                      <a:pt x="23149" y="1622044"/>
                    </a:lnTo>
                    <a:lnTo>
                      <a:pt x="11575" y="1622044"/>
                    </a:lnTo>
                    <a:lnTo>
                      <a:pt x="11575" y="1609344"/>
                    </a:lnTo>
                    <a:lnTo>
                      <a:pt x="128248" y="1609344"/>
                    </a:lnTo>
                    <a:lnTo>
                      <a:pt x="128248" y="1622044"/>
                    </a:lnTo>
                    <a:lnTo>
                      <a:pt x="116673" y="1622044"/>
                    </a:lnTo>
                    <a:lnTo>
                      <a:pt x="116673" y="12700"/>
                    </a:lnTo>
                    <a:lnTo>
                      <a:pt x="128248" y="12700"/>
                    </a:lnTo>
                    <a:lnTo>
                      <a:pt x="128248" y="25400"/>
                    </a:lnTo>
                    <a:lnTo>
                      <a:pt x="11575" y="25400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1522219" y="0"/>
              <a:ext cx="9690340" cy="2598235"/>
              <a:chOff x="0" y="0"/>
              <a:chExt cx="9690340" cy="259823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1575" y="20185"/>
                <a:ext cx="9667191" cy="2557865"/>
              </a:xfrm>
              <a:custGeom>
                <a:avLst/>
                <a:gdLst/>
                <a:ahLst/>
                <a:cxnLst/>
                <a:rect r="r" b="b" t="t" l="l"/>
                <a:pathLst>
                  <a:path h="2557865" w="9667191">
                    <a:moveTo>
                      <a:pt x="0" y="0"/>
                    </a:moveTo>
                    <a:lnTo>
                      <a:pt x="9667191" y="0"/>
                    </a:lnTo>
                    <a:lnTo>
                      <a:pt x="9667191" y="2557865"/>
                    </a:lnTo>
                    <a:lnTo>
                      <a:pt x="0" y="255786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690340" cy="2598236"/>
              </a:xfrm>
              <a:custGeom>
                <a:avLst/>
                <a:gdLst/>
                <a:ahLst/>
                <a:cxnLst/>
                <a:rect r="r" b="b" t="t" l="l"/>
                <a:pathLst>
                  <a:path h="2598236" w="9690340">
                    <a:moveTo>
                      <a:pt x="11575" y="0"/>
                    </a:moveTo>
                    <a:lnTo>
                      <a:pt x="9678766" y="0"/>
                    </a:lnTo>
                    <a:cubicBezTo>
                      <a:pt x="9685131" y="0"/>
                      <a:pt x="9690340" y="9083"/>
                      <a:pt x="9690340" y="20185"/>
                    </a:cubicBezTo>
                    <a:lnTo>
                      <a:pt x="9690340" y="2578050"/>
                    </a:lnTo>
                    <a:cubicBezTo>
                      <a:pt x="9690340" y="2589152"/>
                      <a:pt x="9685131" y="2598236"/>
                      <a:pt x="9678766" y="2598236"/>
                    </a:cubicBezTo>
                    <a:lnTo>
                      <a:pt x="11575" y="2598236"/>
                    </a:lnTo>
                    <a:cubicBezTo>
                      <a:pt x="5209" y="2598236"/>
                      <a:pt x="0" y="2589152"/>
                      <a:pt x="0" y="2578050"/>
                    </a:cubicBezTo>
                    <a:lnTo>
                      <a:pt x="0" y="20185"/>
                    </a:lnTo>
                    <a:cubicBezTo>
                      <a:pt x="0" y="9083"/>
                      <a:pt x="5209" y="0"/>
                      <a:pt x="11575" y="0"/>
                    </a:cubicBezTo>
                    <a:moveTo>
                      <a:pt x="11575" y="40370"/>
                    </a:moveTo>
                    <a:lnTo>
                      <a:pt x="11575" y="20185"/>
                    </a:lnTo>
                    <a:lnTo>
                      <a:pt x="23149" y="20185"/>
                    </a:lnTo>
                    <a:lnTo>
                      <a:pt x="23149" y="2578050"/>
                    </a:lnTo>
                    <a:lnTo>
                      <a:pt x="11575" y="2578050"/>
                    </a:lnTo>
                    <a:lnTo>
                      <a:pt x="11575" y="2557865"/>
                    </a:lnTo>
                    <a:lnTo>
                      <a:pt x="9678766" y="2557865"/>
                    </a:lnTo>
                    <a:lnTo>
                      <a:pt x="9678766" y="2578050"/>
                    </a:lnTo>
                    <a:lnTo>
                      <a:pt x="9667191" y="2578050"/>
                    </a:lnTo>
                    <a:lnTo>
                      <a:pt x="9667191" y="20185"/>
                    </a:lnTo>
                    <a:lnTo>
                      <a:pt x="9678766" y="20185"/>
                    </a:lnTo>
                    <a:lnTo>
                      <a:pt x="9678766" y="40370"/>
                    </a:lnTo>
                    <a:lnTo>
                      <a:pt x="11575" y="4037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1775818" y="162855"/>
              <a:ext cx="9000488" cy="845048"/>
              <a:chOff x="0" y="0"/>
              <a:chExt cx="9000488" cy="84504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000488" cy="845048"/>
              </a:xfrm>
              <a:custGeom>
                <a:avLst/>
                <a:gdLst/>
                <a:ahLst/>
                <a:cxnLst/>
                <a:rect r="r" b="b" t="t" l="l"/>
                <a:pathLst>
                  <a:path h="845048" w="9000488">
                    <a:moveTo>
                      <a:pt x="0" y="0"/>
                    </a:moveTo>
                    <a:lnTo>
                      <a:pt x="9000488" y="0"/>
                    </a:lnTo>
                    <a:lnTo>
                      <a:pt x="9000488" y="845048"/>
                    </a:lnTo>
                    <a:lnTo>
                      <a:pt x="0" y="8450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7411" r="-9722" b="-158006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9000488" cy="8640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1A2B3C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Trading View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1775818" y="1018757"/>
              <a:ext cx="9000488" cy="723578"/>
              <a:chOff x="0" y="0"/>
              <a:chExt cx="9000488" cy="72357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000488" cy="723578"/>
              </a:xfrm>
              <a:custGeom>
                <a:avLst/>
                <a:gdLst/>
                <a:ahLst/>
                <a:cxnLst/>
                <a:rect r="r" b="b" t="t" l="l"/>
                <a:pathLst>
                  <a:path h="723578" w="9000488">
                    <a:moveTo>
                      <a:pt x="0" y="0"/>
                    </a:moveTo>
                    <a:lnTo>
                      <a:pt x="9000488" y="0"/>
                    </a:lnTo>
                    <a:lnTo>
                      <a:pt x="9000488" y="723578"/>
                    </a:lnTo>
                    <a:lnTo>
                      <a:pt x="0" y="7235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0660" r="-9722" b="-191209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9000488" cy="780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Library: tvDataFeed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1762590" y="1701300"/>
              <a:ext cx="9000488" cy="723578"/>
              <a:chOff x="0" y="0"/>
              <a:chExt cx="9000488" cy="72357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000488" cy="723578"/>
              </a:xfrm>
              <a:custGeom>
                <a:avLst/>
                <a:gdLst/>
                <a:ahLst/>
                <a:cxnLst/>
                <a:rect r="r" b="b" t="t" l="l"/>
                <a:pathLst>
                  <a:path h="723578" w="9000488">
                    <a:moveTo>
                      <a:pt x="0" y="0"/>
                    </a:moveTo>
                    <a:lnTo>
                      <a:pt x="9000488" y="0"/>
                    </a:lnTo>
                    <a:lnTo>
                      <a:pt x="9000488" y="723578"/>
                    </a:lnTo>
                    <a:lnTo>
                      <a:pt x="0" y="7235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0660" r="-9722" b="-191209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9000488" cy="78072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Coverage: Indian NSE/BSE, fallback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5166360" y="2334363"/>
            <a:ext cx="7955280" cy="725481"/>
            <a:chOff x="0" y="0"/>
            <a:chExt cx="10607040" cy="96730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07040" cy="967309"/>
            </a:xfrm>
            <a:custGeom>
              <a:avLst/>
              <a:gdLst/>
              <a:ahLst/>
              <a:cxnLst/>
              <a:rect r="r" b="b" t="t" l="l"/>
              <a:pathLst>
                <a:path h="967309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67309"/>
                  </a:lnTo>
                  <a:lnTo>
                    <a:pt x="0" y="9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413" r="0" b="-1439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0607040" cy="995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b="true" sz="3500" spc="700">
                  <a:solidFill>
                    <a:srgbClr val="D4A84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SOURCES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787246" y="8824675"/>
            <a:ext cx="10713508" cy="971308"/>
            <a:chOff x="0" y="0"/>
            <a:chExt cx="14284678" cy="1295078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4284678" cy="1295078"/>
              <a:chOff x="0" y="0"/>
              <a:chExt cx="14284678" cy="129507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15515" y="21729"/>
                <a:ext cx="14253648" cy="1251619"/>
              </a:xfrm>
              <a:custGeom>
                <a:avLst/>
                <a:gdLst/>
                <a:ahLst/>
                <a:cxnLst/>
                <a:rect r="r" b="b" t="t" l="l"/>
                <a:pathLst>
                  <a:path h="1251619" w="14253648">
                    <a:moveTo>
                      <a:pt x="0" y="0"/>
                    </a:moveTo>
                    <a:lnTo>
                      <a:pt x="14253648" y="0"/>
                    </a:lnTo>
                    <a:lnTo>
                      <a:pt x="14253648" y="1251619"/>
                    </a:lnTo>
                    <a:lnTo>
                      <a:pt x="0" y="125161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4284677" cy="1295078"/>
              </a:xfrm>
              <a:custGeom>
                <a:avLst/>
                <a:gdLst/>
                <a:ahLst/>
                <a:cxnLst/>
                <a:rect r="r" b="b" t="t" l="l"/>
                <a:pathLst>
                  <a:path h="1295078" w="14284677">
                    <a:moveTo>
                      <a:pt x="15515" y="0"/>
                    </a:moveTo>
                    <a:lnTo>
                      <a:pt x="14269163" y="0"/>
                    </a:lnTo>
                    <a:cubicBezTo>
                      <a:pt x="14277696" y="0"/>
                      <a:pt x="14284677" y="9778"/>
                      <a:pt x="14284677" y="21729"/>
                    </a:cubicBezTo>
                    <a:lnTo>
                      <a:pt x="14284677" y="1273348"/>
                    </a:lnTo>
                    <a:cubicBezTo>
                      <a:pt x="14284677" y="1285299"/>
                      <a:pt x="14277696" y="1295078"/>
                      <a:pt x="14269163" y="1295078"/>
                    </a:cubicBezTo>
                    <a:lnTo>
                      <a:pt x="15515" y="1295078"/>
                    </a:lnTo>
                    <a:cubicBezTo>
                      <a:pt x="6982" y="1295078"/>
                      <a:pt x="0" y="1285299"/>
                      <a:pt x="0" y="1273348"/>
                    </a:cubicBezTo>
                    <a:lnTo>
                      <a:pt x="0" y="21729"/>
                    </a:lnTo>
                    <a:cubicBezTo>
                      <a:pt x="0" y="9778"/>
                      <a:pt x="6982" y="0"/>
                      <a:pt x="15515" y="0"/>
                    </a:cubicBezTo>
                    <a:moveTo>
                      <a:pt x="15515" y="43459"/>
                    </a:moveTo>
                    <a:lnTo>
                      <a:pt x="15515" y="21729"/>
                    </a:lnTo>
                    <a:lnTo>
                      <a:pt x="31029" y="21729"/>
                    </a:lnTo>
                    <a:lnTo>
                      <a:pt x="31029" y="1273348"/>
                    </a:lnTo>
                    <a:lnTo>
                      <a:pt x="15515" y="1273348"/>
                    </a:lnTo>
                    <a:lnTo>
                      <a:pt x="15515" y="1251619"/>
                    </a:lnTo>
                    <a:lnTo>
                      <a:pt x="14269163" y="1251619"/>
                    </a:lnTo>
                    <a:lnTo>
                      <a:pt x="14269163" y="1273348"/>
                    </a:lnTo>
                    <a:lnTo>
                      <a:pt x="14253648" y="1273348"/>
                    </a:lnTo>
                    <a:lnTo>
                      <a:pt x="14253648" y="21729"/>
                    </a:lnTo>
                    <a:lnTo>
                      <a:pt x="14269163" y="21729"/>
                    </a:lnTo>
                    <a:lnTo>
                      <a:pt x="14269163" y="43459"/>
                    </a:lnTo>
                    <a:lnTo>
                      <a:pt x="15515" y="4345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328291" y="281779"/>
              <a:ext cx="13628097" cy="731520"/>
              <a:chOff x="0" y="0"/>
              <a:chExt cx="13628097" cy="73152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62809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3628097">
                    <a:moveTo>
                      <a:pt x="0" y="0"/>
                    </a:moveTo>
                    <a:lnTo>
                      <a:pt x="13628097" y="0"/>
                    </a:lnTo>
                    <a:lnTo>
                      <a:pt x="13628097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7146" r="18142" b="-247146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57150"/>
                <a:ext cx="13628097" cy="7886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94A3B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Train/Test Split: 80% / 20% chronological — no data leakage, no shuffle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0740" y="3739384"/>
            <a:ext cx="17186521" cy="1011792"/>
            <a:chOff x="0" y="0"/>
            <a:chExt cx="22915361" cy="134905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2915361" cy="1349057"/>
              <a:chOff x="0" y="0"/>
              <a:chExt cx="23433131" cy="137953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3433156" cy="1379509"/>
              </a:xfrm>
              <a:custGeom>
                <a:avLst/>
                <a:gdLst/>
                <a:ahLst/>
                <a:cxnLst/>
                <a:rect r="r" b="b" t="t" l="l"/>
                <a:pathLst>
                  <a:path h="1379509" w="23433156">
                    <a:moveTo>
                      <a:pt x="0" y="0"/>
                    </a:moveTo>
                    <a:lnTo>
                      <a:pt x="23433156" y="0"/>
                    </a:lnTo>
                    <a:lnTo>
                      <a:pt x="23433156" y="1379509"/>
                    </a:lnTo>
                    <a:lnTo>
                      <a:pt x="0" y="1379509"/>
                    </a:lnTo>
                    <a:close/>
                  </a:path>
                </a:pathLst>
              </a:custGeom>
              <a:solidFill>
                <a:srgbClr val="0A1628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618655" y="129857"/>
              <a:ext cx="20518457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4A84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y[i] = 1   if  (Close[i] − min(Close[i+1 : i+6]))  ≥  ATR[i] × 1.5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y[i] = 0   otherwise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42461" y="685800"/>
            <a:ext cx="13861236" cy="703777"/>
            <a:chOff x="0" y="0"/>
            <a:chExt cx="18481648" cy="9383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81649" cy="938370"/>
            </a:xfrm>
            <a:custGeom>
              <a:avLst/>
              <a:gdLst/>
              <a:ahLst/>
              <a:cxnLst/>
              <a:rect r="r" b="b" t="t" l="l"/>
              <a:pathLst>
                <a:path h="938370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38370"/>
                  </a:lnTo>
                  <a:lnTo>
                    <a:pt x="0" y="938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782" r="-14784" b="-3892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481648" cy="966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5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and Adaptive Target Formulation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193935" y="2399230"/>
            <a:ext cx="9900129" cy="1237177"/>
            <a:chOff x="0" y="0"/>
            <a:chExt cx="13200172" cy="16495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00173" cy="1649570"/>
            </a:xfrm>
            <a:custGeom>
              <a:avLst/>
              <a:gdLst/>
              <a:ahLst/>
              <a:cxnLst/>
              <a:rect r="r" b="b" t="t" l="l"/>
              <a:pathLst>
                <a:path h="1649570" w="13200173">
                  <a:moveTo>
                    <a:pt x="0" y="0"/>
                  </a:moveTo>
                  <a:lnTo>
                    <a:pt x="13200173" y="0"/>
                  </a:lnTo>
                  <a:lnTo>
                    <a:pt x="13200173" y="1649570"/>
                  </a:lnTo>
                  <a:lnTo>
                    <a:pt x="0" y="1649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83" r="11609" b="-555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200172" cy="1678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b="true" sz="3500" spc="700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ADAPTIVE TARGET FORMULA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54340" y="5208376"/>
            <a:ext cx="13379320" cy="4440287"/>
            <a:chOff x="0" y="0"/>
            <a:chExt cx="17839094" cy="592038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7839094" cy="1049913"/>
              <a:chOff x="0" y="0"/>
              <a:chExt cx="12860843" cy="75692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3968" y="12700"/>
                <a:ext cx="1283290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2832907">
                    <a:moveTo>
                      <a:pt x="0" y="0"/>
                    </a:moveTo>
                    <a:lnTo>
                      <a:pt x="12832907" y="0"/>
                    </a:lnTo>
                    <a:lnTo>
                      <a:pt x="12832907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F0F4F8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860843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12860843">
                    <a:moveTo>
                      <a:pt x="13968" y="0"/>
                    </a:moveTo>
                    <a:lnTo>
                      <a:pt x="12846875" y="0"/>
                    </a:lnTo>
                    <a:cubicBezTo>
                      <a:pt x="12854556" y="0"/>
                      <a:pt x="12860843" y="5715"/>
                      <a:pt x="12860843" y="12700"/>
                    </a:cubicBezTo>
                    <a:lnTo>
                      <a:pt x="12860843" y="744220"/>
                    </a:lnTo>
                    <a:cubicBezTo>
                      <a:pt x="12860843" y="751205"/>
                      <a:pt x="12854556" y="756920"/>
                      <a:pt x="12846875" y="756920"/>
                    </a:cubicBezTo>
                    <a:lnTo>
                      <a:pt x="13968" y="756920"/>
                    </a:lnTo>
                    <a:cubicBezTo>
                      <a:pt x="6286" y="756920"/>
                      <a:pt x="0" y="751205"/>
                      <a:pt x="0" y="744220"/>
                    </a:cubicBezTo>
                    <a:lnTo>
                      <a:pt x="0" y="12700"/>
                    </a:lnTo>
                    <a:cubicBezTo>
                      <a:pt x="0" y="5715"/>
                      <a:pt x="6286" y="0"/>
                      <a:pt x="13968" y="0"/>
                    </a:cubicBezTo>
                    <a:moveTo>
                      <a:pt x="13968" y="25400"/>
                    </a:moveTo>
                    <a:lnTo>
                      <a:pt x="13968" y="12700"/>
                    </a:lnTo>
                    <a:lnTo>
                      <a:pt x="27936" y="12700"/>
                    </a:lnTo>
                    <a:lnTo>
                      <a:pt x="27936" y="744220"/>
                    </a:lnTo>
                    <a:lnTo>
                      <a:pt x="13968" y="744220"/>
                    </a:lnTo>
                    <a:lnTo>
                      <a:pt x="13968" y="731520"/>
                    </a:lnTo>
                    <a:lnTo>
                      <a:pt x="12846875" y="731520"/>
                    </a:lnTo>
                    <a:lnTo>
                      <a:pt x="12846875" y="744220"/>
                    </a:lnTo>
                    <a:lnTo>
                      <a:pt x="12832907" y="744220"/>
                    </a:lnTo>
                    <a:lnTo>
                      <a:pt x="12832907" y="12700"/>
                    </a:lnTo>
                    <a:lnTo>
                      <a:pt x="12846875" y="12700"/>
                    </a:lnTo>
                    <a:lnTo>
                      <a:pt x="12846875" y="25400"/>
                    </a:lnTo>
                    <a:lnTo>
                      <a:pt x="13968" y="2540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54178" y="119084"/>
              <a:ext cx="6417052" cy="811745"/>
              <a:chOff x="0" y="0"/>
              <a:chExt cx="4626283" cy="58521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62628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4626283">
                    <a:moveTo>
                      <a:pt x="0" y="0"/>
                    </a:moveTo>
                    <a:lnTo>
                      <a:pt x="4626283" y="0"/>
                    </a:lnTo>
                    <a:lnTo>
                      <a:pt x="462628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048" r="9079" b="-90048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462628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 b="true">
                    <a:solidFill>
                      <a:srgbClr val="3B82F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Close[i]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6994431" y="119084"/>
              <a:ext cx="10462584" cy="811745"/>
              <a:chOff x="0" y="0"/>
              <a:chExt cx="7542853" cy="58521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54285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7542853">
                    <a:moveTo>
                      <a:pt x="0" y="0"/>
                    </a:moveTo>
                    <a:lnTo>
                      <a:pt x="7542853" y="0"/>
                    </a:lnTo>
                    <a:lnTo>
                      <a:pt x="754285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8340" r="9079" b="-178340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754285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Closing price on day i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1217617"/>
              <a:ext cx="17839094" cy="1049913"/>
              <a:chOff x="0" y="0"/>
              <a:chExt cx="12860843" cy="75692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13968" y="12700"/>
                <a:ext cx="1283290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2832907">
                    <a:moveTo>
                      <a:pt x="0" y="0"/>
                    </a:moveTo>
                    <a:lnTo>
                      <a:pt x="12832907" y="0"/>
                    </a:lnTo>
                    <a:lnTo>
                      <a:pt x="12832907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2860843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12860843">
                    <a:moveTo>
                      <a:pt x="13968" y="0"/>
                    </a:moveTo>
                    <a:lnTo>
                      <a:pt x="12846875" y="0"/>
                    </a:lnTo>
                    <a:cubicBezTo>
                      <a:pt x="12854556" y="0"/>
                      <a:pt x="12860843" y="5715"/>
                      <a:pt x="12860843" y="12700"/>
                    </a:cubicBezTo>
                    <a:lnTo>
                      <a:pt x="12860843" y="744220"/>
                    </a:lnTo>
                    <a:cubicBezTo>
                      <a:pt x="12860843" y="751205"/>
                      <a:pt x="12854556" y="756920"/>
                      <a:pt x="12846875" y="756920"/>
                    </a:cubicBezTo>
                    <a:lnTo>
                      <a:pt x="13968" y="756920"/>
                    </a:lnTo>
                    <a:cubicBezTo>
                      <a:pt x="6286" y="756920"/>
                      <a:pt x="0" y="751205"/>
                      <a:pt x="0" y="744220"/>
                    </a:cubicBezTo>
                    <a:lnTo>
                      <a:pt x="0" y="12700"/>
                    </a:lnTo>
                    <a:cubicBezTo>
                      <a:pt x="0" y="5715"/>
                      <a:pt x="6286" y="0"/>
                      <a:pt x="13968" y="0"/>
                    </a:cubicBezTo>
                    <a:moveTo>
                      <a:pt x="13968" y="25400"/>
                    </a:moveTo>
                    <a:lnTo>
                      <a:pt x="13968" y="12700"/>
                    </a:lnTo>
                    <a:lnTo>
                      <a:pt x="27936" y="12700"/>
                    </a:lnTo>
                    <a:lnTo>
                      <a:pt x="27936" y="744220"/>
                    </a:lnTo>
                    <a:lnTo>
                      <a:pt x="13968" y="744220"/>
                    </a:lnTo>
                    <a:lnTo>
                      <a:pt x="13968" y="731520"/>
                    </a:lnTo>
                    <a:lnTo>
                      <a:pt x="12846875" y="731520"/>
                    </a:lnTo>
                    <a:lnTo>
                      <a:pt x="12846875" y="744220"/>
                    </a:lnTo>
                    <a:lnTo>
                      <a:pt x="12832907" y="744220"/>
                    </a:lnTo>
                    <a:lnTo>
                      <a:pt x="12832907" y="12700"/>
                    </a:lnTo>
                    <a:lnTo>
                      <a:pt x="12846875" y="12700"/>
                    </a:lnTo>
                    <a:lnTo>
                      <a:pt x="12846875" y="25400"/>
                    </a:lnTo>
                    <a:lnTo>
                      <a:pt x="13968" y="2540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354178" y="1336701"/>
              <a:ext cx="6417052" cy="811745"/>
              <a:chOff x="0" y="0"/>
              <a:chExt cx="4626283" cy="58521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62628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4626283">
                    <a:moveTo>
                      <a:pt x="0" y="0"/>
                    </a:moveTo>
                    <a:lnTo>
                      <a:pt x="4626283" y="0"/>
                    </a:lnTo>
                    <a:lnTo>
                      <a:pt x="462628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048" r="9079" b="-90048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462628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 b="true">
                    <a:solidFill>
                      <a:srgbClr val="3B82F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min(Close[i+1:i+6])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6994431" y="1336701"/>
              <a:ext cx="10462584" cy="811745"/>
              <a:chOff x="0" y="0"/>
              <a:chExt cx="7542853" cy="58521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54285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7542853">
                    <a:moveTo>
                      <a:pt x="0" y="0"/>
                    </a:moveTo>
                    <a:lnTo>
                      <a:pt x="7542853" y="0"/>
                    </a:lnTo>
                    <a:lnTo>
                      <a:pt x="754285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8340" r="9079" b="-178340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754285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Minimum close over next 5 trading days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2435235"/>
              <a:ext cx="17839094" cy="1049913"/>
              <a:chOff x="0" y="0"/>
              <a:chExt cx="12860843" cy="75692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3968" y="12700"/>
                <a:ext cx="1283290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2832907">
                    <a:moveTo>
                      <a:pt x="0" y="0"/>
                    </a:moveTo>
                    <a:lnTo>
                      <a:pt x="12832907" y="0"/>
                    </a:lnTo>
                    <a:lnTo>
                      <a:pt x="12832907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F0F4F8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2860843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12860843">
                    <a:moveTo>
                      <a:pt x="13968" y="0"/>
                    </a:moveTo>
                    <a:lnTo>
                      <a:pt x="12846875" y="0"/>
                    </a:lnTo>
                    <a:cubicBezTo>
                      <a:pt x="12854556" y="0"/>
                      <a:pt x="12860843" y="5715"/>
                      <a:pt x="12860843" y="12700"/>
                    </a:cubicBezTo>
                    <a:lnTo>
                      <a:pt x="12860843" y="744220"/>
                    </a:lnTo>
                    <a:cubicBezTo>
                      <a:pt x="12860843" y="751205"/>
                      <a:pt x="12854556" y="756920"/>
                      <a:pt x="12846875" y="756920"/>
                    </a:cubicBezTo>
                    <a:lnTo>
                      <a:pt x="13968" y="756920"/>
                    </a:lnTo>
                    <a:cubicBezTo>
                      <a:pt x="6286" y="756920"/>
                      <a:pt x="0" y="751205"/>
                      <a:pt x="0" y="744220"/>
                    </a:cubicBezTo>
                    <a:lnTo>
                      <a:pt x="0" y="12700"/>
                    </a:lnTo>
                    <a:cubicBezTo>
                      <a:pt x="0" y="5715"/>
                      <a:pt x="6286" y="0"/>
                      <a:pt x="13968" y="0"/>
                    </a:cubicBezTo>
                    <a:moveTo>
                      <a:pt x="13968" y="25400"/>
                    </a:moveTo>
                    <a:lnTo>
                      <a:pt x="13968" y="12700"/>
                    </a:lnTo>
                    <a:lnTo>
                      <a:pt x="27936" y="12700"/>
                    </a:lnTo>
                    <a:lnTo>
                      <a:pt x="27936" y="744220"/>
                    </a:lnTo>
                    <a:lnTo>
                      <a:pt x="13968" y="744220"/>
                    </a:lnTo>
                    <a:lnTo>
                      <a:pt x="13968" y="731520"/>
                    </a:lnTo>
                    <a:lnTo>
                      <a:pt x="12846875" y="731520"/>
                    </a:lnTo>
                    <a:lnTo>
                      <a:pt x="12846875" y="744220"/>
                    </a:lnTo>
                    <a:lnTo>
                      <a:pt x="12832907" y="744220"/>
                    </a:lnTo>
                    <a:lnTo>
                      <a:pt x="12832907" y="12700"/>
                    </a:lnTo>
                    <a:lnTo>
                      <a:pt x="12846875" y="12700"/>
                    </a:lnTo>
                    <a:lnTo>
                      <a:pt x="12846875" y="25400"/>
                    </a:lnTo>
                    <a:lnTo>
                      <a:pt x="13968" y="2540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354178" y="2554319"/>
              <a:ext cx="6417052" cy="811745"/>
              <a:chOff x="0" y="0"/>
              <a:chExt cx="4626283" cy="58521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62628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4626283">
                    <a:moveTo>
                      <a:pt x="0" y="0"/>
                    </a:moveTo>
                    <a:lnTo>
                      <a:pt x="4626283" y="0"/>
                    </a:lnTo>
                    <a:lnTo>
                      <a:pt x="462628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048" r="9079" b="-90048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57150"/>
                <a:ext cx="462628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 b="true">
                    <a:solidFill>
                      <a:srgbClr val="10B981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ATR[i]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6994431" y="2554319"/>
              <a:ext cx="10462584" cy="811745"/>
              <a:chOff x="0" y="0"/>
              <a:chExt cx="7542853" cy="585216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54285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7542853">
                    <a:moveTo>
                      <a:pt x="0" y="0"/>
                    </a:moveTo>
                    <a:lnTo>
                      <a:pt x="7542853" y="0"/>
                    </a:lnTo>
                    <a:lnTo>
                      <a:pt x="754285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8340" r="9079" b="-178340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754285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14-day Average True Range — volatility normalizer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3652852"/>
              <a:ext cx="17839094" cy="1049913"/>
              <a:chOff x="0" y="0"/>
              <a:chExt cx="12860843" cy="75692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3968" y="12700"/>
                <a:ext cx="1283290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2832907">
                    <a:moveTo>
                      <a:pt x="0" y="0"/>
                    </a:moveTo>
                    <a:lnTo>
                      <a:pt x="12832907" y="0"/>
                    </a:lnTo>
                    <a:lnTo>
                      <a:pt x="12832907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2860843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12860843">
                    <a:moveTo>
                      <a:pt x="13968" y="0"/>
                    </a:moveTo>
                    <a:lnTo>
                      <a:pt x="12846875" y="0"/>
                    </a:lnTo>
                    <a:cubicBezTo>
                      <a:pt x="12854556" y="0"/>
                      <a:pt x="12860843" y="5715"/>
                      <a:pt x="12860843" y="12700"/>
                    </a:cubicBezTo>
                    <a:lnTo>
                      <a:pt x="12860843" y="744220"/>
                    </a:lnTo>
                    <a:cubicBezTo>
                      <a:pt x="12860843" y="751205"/>
                      <a:pt x="12854556" y="756920"/>
                      <a:pt x="12846875" y="756920"/>
                    </a:cubicBezTo>
                    <a:lnTo>
                      <a:pt x="13968" y="756920"/>
                    </a:lnTo>
                    <a:cubicBezTo>
                      <a:pt x="6286" y="756920"/>
                      <a:pt x="0" y="751205"/>
                      <a:pt x="0" y="744220"/>
                    </a:cubicBezTo>
                    <a:lnTo>
                      <a:pt x="0" y="12700"/>
                    </a:lnTo>
                    <a:cubicBezTo>
                      <a:pt x="0" y="5715"/>
                      <a:pt x="6286" y="0"/>
                      <a:pt x="13968" y="0"/>
                    </a:cubicBezTo>
                    <a:moveTo>
                      <a:pt x="13968" y="25400"/>
                    </a:moveTo>
                    <a:lnTo>
                      <a:pt x="13968" y="12700"/>
                    </a:lnTo>
                    <a:lnTo>
                      <a:pt x="27936" y="12700"/>
                    </a:lnTo>
                    <a:lnTo>
                      <a:pt x="27936" y="744220"/>
                    </a:lnTo>
                    <a:lnTo>
                      <a:pt x="13968" y="744220"/>
                    </a:lnTo>
                    <a:lnTo>
                      <a:pt x="13968" y="731520"/>
                    </a:lnTo>
                    <a:lnTo>
                      <a:pt x="12846875" y="731520"/>
                    </a:lnTo>
                    <a:lnTo>
                      <a:pt x="12846875" y="744220"/>
                    </a:lnTo>
                    <a:lnTo>
                      <a:pt x="12832907" y="744220"/>
                    </a:lnTo>
                    <a:lnTo>
                      <a:pt x="12832907" y="12700"/>
                    </a:lnTo>
                    <a:lnTo>
                      <a:pt x="12846875" y="12700"/>
                    </a:lnTo>
                    <a:lnTo>
                      <a:pt x="12846875" y="25400"/>
                    </a:lnTo>
                    <a:lnTo>
                      <a:pt x="13968" y="2540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354178" y="3771936"/>
              <a:ext cx="6417052" cy="811745"/>
              <a:chOff x="0" y="0"/>
              <a:chExt cx="4626283" cy="585216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62628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4626283">
                    <a:moveTo>
                      <a:pt x="0" y="0"/>
                    </a:moveTo>
                    <a:lnTo>
                      <a:pt x="4626283" y="0"/>
                    </a:lnTo>
                    <a:lnTo>
                      <a:pt x="462628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048" r="9079" b="-90048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462628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 b="true">
                    <a:solidFill>
                      <a:srgbClr val="D4A84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1.5x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6994431" y="3771936"/>
              <a:ext cx="10462584" cy="811745"/>
              <a:chOff x="0" y="0"/>
              <a:chExt cx="7542853" cy="585216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754285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7542853">
                    <a:moveTo>
                      <a:pt x="0" y="0"/>
                    </a:moveTo>
                    <a:lnTo>
                      <a:pt x="7542853" y="0"/>
                    </a:lnTo>
                    <a:lnTo>
                      <a:pt x="754285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8340" r="9079" b="-178340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57150"/>
                <a:ext cx="754285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Crash threshold multiplier (adaptive, not fixed %)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4870469"/>
              <a:ext cx="17839094" cy="1049913"/>
              <a:chOff x="0" y="0"/>
              <a:chExt cx="12860843" cy="75692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13968" y="12700"/>
                <a:ext cx="1283290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2832907">
                    <a:moveTo>
                      <a:pt x="0" y="0"/>
                    </a:moveTo>
                    <a:lnTo>
                      <a:pt x="12832907" y="0"/>
                    </a:lnTo>
                    <a:lnTo>
                      <a:pt x="12832907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F0F4F8"/>
              </a:solidFill>
            </p:spPr>
          </p:sp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2860843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12860843">
                    <a:moveTo>
                      <a:pt x="13968" y="0"/>
                    </a:moveTo>
                    <a:lnTo>
                      <a:pt x="12846875" y="0"/>
                    </a:lnTo>
                    <a:cubicBezTo>
                      <a:pt x="12854556" y="0"/>
                      <a:pt x="12860843" y="5715"/>
                      <a:pt x="12860843" y="12700"/>
                    </a:cubicBezTo>
                    <a:lnTo>
                      <a:pt x="12860843" y="744220"/>
                    </a:lnTo>
                    <a:cubicBezTo>
                      <a:pt x="12860843" y="751205"/>
                      <a:pt x="12854556" y="756920"/>
                      <a:pt x="12846875" y="756920"/>
                    </a:cubicBezTo>
                    <a:lnTo>
                      <a:pt x="13968" y="756920"/>
                    </a:lnTo>
                    <a:cubicBezTo>
                      <a:pt x="6286" y="756920"/>
                      <a:pt x="0" y="751205"/>
                      <a:pt x="0" y="744220"/>
                    </a:cubicBezTo>
                    <a:lnTo>
                      <a:pt x="0" y="12700"/>
                    </a:lnTo>
                    <a:cubicBezTo>
                      <a:pt x="0" y="5715"/>
                      <a:pt x="6286" y="0"/>
                      <a:pt x="13968" y="0"/>
                    </a:cubicBezTo>
                    <a:moveTo>
                      <a:pt x="13968" y="25400"/>
                    </a:moveTo>
                    <a:lnTo>
                      <a:pt x="13968" y="12700"/>
                    </a:lnTo>
                    <a:lnTo>
                      <a:pt x="27936" y="12700"/>
                    </a:lnTo>
                    <a:lnTo>
                      <a:pt x="27936" y="744220"/>
                    </a:lnTo>
                    <a:lnTo>
                      <a:pt x="13968" y="744220"/>
                    </a:lnTo>
                    <a:lnTo>
                      <a:pt x="13968" y="731520"/>
                    </a:lnTo>
                    <a:lnTo>
                      <a:pt x="12846875" y="731520"/>
                    </a:lnTo>
                    <a:lnTo>
                      <a:pt x="12846875" y="744220"/>
                    </a:lnTo>
                    <a:lnTo>
                      <a:pt x="12832907" y="744220"/>
                    </a:lnTo>
                    <a:lnTo>
                      <a:pt x="12832907" y="12700"/>
                    </a:lnTo>
                    <a:lnTo>
                      <a:pt x="12846875" y="12700"/>
                    </a:lnTo>
                    <a:lnTo>
                      <a:pt x="12846875" y="25400"/>
                    </a:lnTo>
                    <a:lnTo>
                      <a:pt x="13968" y="2540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354178" y="4989553"/>
              <a:ext cx="6417052" cy="811745"/>
              <a:chOff x="0" y="0"/>
              <a:chExt cx="4626283" cy="585216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462628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4626283">
                    <a:moveTo>
                      <a:pt x="0" y="0"/>
                    </a:moveTo>
                    <a:lnTo>
                      <a:pt x="4626283" y="0"/>
                    </a:lnTo>
                    <a:lnTo>
                      <a:pt x="462628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0048" r="9079" b="-90048"/>
                </a:stretch>
              </a:blip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57150"/>
                <a:ext cx="462628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 b="true">
                    <a:solidFill>
                      <a:srgbClr val="94A3B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Window = 5 days</a:t>
                </a: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6994431" y="4989553"/>
              <a:ext cx="10462584" cy="811745"/>
              <a:chOff x="0" y="0"/>
              <a:chExt cx="7542853" cy="585216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7542853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7542853">
                    <a:moveTo>
                      <a:pt x="0" y="0"/>
                    </a:moveTo>
                    <a:lnTo>
                      <a:pt x="7542853" y="0"/>
                    </a:lnTo>
                    <a:lnTo>
                      <a:pt x="7542853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8340" r="9079" b="-178340"/>
                </a:stretch>
              </a:blip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57150"/>
                <a:ext cx="7542853" cy="6423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4A556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Forward-looking prediction window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87231" y="3763720"/>
          <a:ext cx="16472069" cy="4805362"/>
        </p:xfrm>
        <a:graphic>
          <a:graphicData uri="http://schemas.openxmlformats.org/drawingml/2006/table">
            <a:tbl>
              <a:tblPr/>
              <a:tblGrid>
                <a:gridCol w="4118017"/>
                <a:gridCol w="7412431"/>
                <a:gridCol w="4941621"/>
              </a:tblGrid>
              <a:tr h="8008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What They Did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8008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Gidea and Katz(2017)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 TDA on S&amp;P 500 crash precursors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EF444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Snapshot topology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8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Gidea &amp; Katz (2018)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Betti numbers before 2008/2015 crashes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EF444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velocity, no ML fusion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8008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Bubenik (2015)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Persistence Landscapes for statistical 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EF444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financial application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8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LSTMs / Neural Nets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Sequential price prediction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EF444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Euclidean geometry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8008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RF / XGB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2B3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Technical indicator classification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EF444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topological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18302478" cy="1939290"/>
            <a:chOff x="0" y="0"/>
            <a:chExt cx="24403304" cy="258572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189647"/>
              <a:ext cx="24396967" cy="73216"/>
              <a:chOff x="0" y="0"/>
              <a:chExt cx="24396967" cy="7321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4396954" cy="73152"/>
              </a:xfrm>
              <a:custGeom>
                <a:avLst/>
                <a:gdLst/>
                <a:ahLst/>
                <a:cxnLst/>
                <a:rect r="r" b="b" t="t" l="l"/>
                <a:pathLst>
                  <a:path h="73152" w="24396954">
                    <a:moveTo>
                      <a:pt x="0" y="0"/>
                    </a:moveTo>
                    <a:lnTo>
                      <a:pt x="24396954" y="0"/>
                    </a:lnTo>
                    <a:lnTo>
                      <a:pt x="24396954" y="73152"/>
                    </a:lnTo>
                    <a:lnTo>
                      <a:pt x="0" y="73152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22705" y="1643164"/>
              <a:ext cx="9763976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PRIOR ART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405963"/>
              <a:ext cx="24403304" cy="2179757"/>
              <a:chOff x="0" y="0"/>
              <a:chExt cx="24403304" cy="217975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12700" y="22801"/>
                <a:ext cx="24377904" cy="2134155"/>
              </a:xfrm>
              <a:custGeom>
                <a:avLst/>
                <a:gdLst/>
                <a:ahLst/>
                <a:cxnLst/>
                <a:rect r="r" b="b" t="t" l="l"/>
                <a:pathLst>
                  <a:path h="2134155" w="24377904">
                    <a:moveTo>
                      <a:pt x="0" y="0"/>
                    </a:moveTo>
                    <a:lnTo>
                      <a:pt x="24377904" y="0"/>
                    </a:lnTo>
                    <a:lnTo>
                      <a:pt x="24377904" y="2134155"/>
                    </a:lnTo>
                    <a:lnTo>
                      <a:pt x="0" y="2134155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403304" cy="2179757"/>
              </a:xfrm>
              <a:custGeom>
                <a:avLst/>
                <a:gdLst/>
                <a:ahLst/>
                <a:cxnLst/>
                <a:rect r="r" b="b" t="t" l="l"/>
                <a:pathLst>
                  <a:path h="2179757" w="24403304">
                    <a:moveTo>
                      <a:pt x="12700" y="0"/>
                    </a:moveTo>
                    <a:lnTo>
                      <a:pt x="24390604" y="0"/>
                    </a:lnTo>
                    <a:cubicBezTo>
                      <a:pt x="24397590" y="0"/>
                      <a:pt x="24403304" y="10260"/>
                      <a:pt x="24403304" y="22801"/>
                    </a:cubicBezTo>
                    <a:lnTo>
                      <a:pt x="24403304" y="2156956"/>
                    </a:lnTo>
                    <a:cubicBezTo>
                      <a:pt x="24403304" y="2169497"/>
                      <a:pt x="24397590" y="2179757"/>
                      <a:pt x="24390604" y="2179757"/>
                    </a:cubicBezTo>
                    <a:lnTo>
                      <a:pt x="12700" y="2179757"/>
                    </a:lnTo>
                    <a:cubicBezTo>
                      <a:pt x="5715" y="2179757"/>
                      <a:pt x="0" y="2169497"/>
                      <a:pt x="0" y="2156956"/>
                    </a:cubicBezTo>
                    <a:lnTo>
                      <a:pt x="0" y="22801"/>
                    </a:lnTo>
                    <a:cubicBezTo>
                      <a:pt x="0" y="10260"/>
                      <a:pt x="5715" y="0"/>
                      <a:pt x="12700" y="0"/>
                    </a:cubicBezTo>
                    <a:moveTo>
                      <a:pt x="12700" y="45602"/>
                    </a:moveTo>
                    <a:lnTo>
                      <a:pt x="12700" y="22801"/>
                    </a:lnTo>
                    <a:lnTo>
                      <a:pt x="25400" y="22801"/>
                    </a:lnTo>
                    <a:lnTo>
                      <a:pt x="25400" y="2156956"/>
                    </a:lnTo>
                    <a:lnTo>
                      <a:pt x="12700" y="2156956"/>
                    </a:lnTo>
                    <a:lnTo>
                      <a:pt x="12700" y="2134155"/>
                    </a:lnTo>
                    <a:lnTo>
                      <a:pt x="24390604" y="2134155"/>
                    </a:lnTo>
                    <a:lnTo>
                      <a:pt x="24390604" y="2156956"/>
                    </a:lnTo>
                    <a:lnTo>
                      <a:pt x="24377904" y="2156956"/>
                    </a:lnTo>
                    <a:lnTo>
                      <a:pt x="24377904" y="22801"/>
                    </a:lnTo>
                    <a:lnTo>
                      <a:pt x="24390604" y="22801"/>
                    </a:lnTo>
                    <a:lnTo>
                      <a:pt x="24390604" y="45602"/>
                    </a:lnTo>
                    <a:lnTo>
                      <a:pt x="12700" y="45602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5389948" y="914400"/>
              <a:ext cx="18481648" cy="925668"/>
              <a:chOff x="0" y="0"/>
              <a:chExt cx="18481648" cy="92566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481649" cy="925668"/>
              </a:xfrm>
              <a:custGeom>
                <a:avLst/>
                <a:gdLst/>
                <a:ahLst/>
                <a:cxnLst/>
                <a:rect r="r" b="b" t="t" l="l"/>
                <a:pathLst>
                  <a:path h="925668" w="18481649">
                    <a:moveTo>
                      <a:pt x="0" y="0"/>
                    </a:moveTo>
                    <a:lnTo>
                      <a:pt x="18481649" y="0"/>
                    </a:lnTo>
                    <a:lnTo>
                      <a:pt x="18481649" y="925668"/>
                    </a:lnTo>
                    <a:lnTo>
                      <a:pt x="0" y="9256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7158" r="-14784" b="-395941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18481648" cy="9447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199"/>
                  </a:lnSpc>
                </a:pPr>
                <a:r>
                  <a:rPr lang="en-US" sz="3499" b="true">
                    <a:solidFill>
                      <a:srgbClr val="FFFFFF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What Existing Research Missed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459207" y="0"/>
              <a:ext cx="4411019" cy="2157172"/>
              <a:chOff x="0" y="0"/>
              <a:chExt cx="2906179" cy="142124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906141" cy="1421294"/>
              </a:xfrm>
              <a:custGeom>
                <a:avLst/>
                <a:gdLst/>
                <a:ahLst/>
                <a:cxnLst/>
                <a:rect r="r" b="b" t="t" l="l"/>
                <a:pathLst>
                  <a:path h="1421294" w="2906141">
                    <a:moveTo>
                      <a:pt x="0" y="0"/>
                    </a:moveTo>
                    <a:lnTo>
                      <a:pt x="2906141" y="0"/>
                    </a:lnTo>
                    <a:lnTo>
                      <a:pt x="2906141" y="1421294"/>
                    </a:lnTo>
                    <a:lnTo>
                      <a:pt x="0" y="142129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5431" r="-1" b="-5427"/>
                </a:stretch>
              </a:blipFill>
            </p:spPr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302478" cy="1939290"/>
            <a:chOff x="0" y="0"/>
            <a:chExt cx="24403304" cy="258572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189647"/>
              <a:ext cx="24396967" cy="73216"/>
              <a:chOff x="0" y="0"/>
              <a:chExt cx="24396967" cy="7321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96954" cy="73152"/>
              </a:xfrm>
              <a:custGeom>
                <a:avLst/>
                <a:gdLst/>
                <a:ahLst/>
                <a:cxnLst/>
                <a:rect r="r" b="b" t="t" l="l"/>
                <a:pathLst>
                  <a:path h="73152" w="24396954">
                    <a:moveTo>
                      <a:pt x="0" y="0"/>
                    </a:moveTo>
                    <a:lnTo>
                      <a:pt x="24396954" y="0"/>
                    </a:lnTo>
                    <a:lnTo>
                      <a:pt x="24396954" y="73152"/>
                    </a:lnTo>
                    <a:lnTo>
                      <a:pt x="0" y="73152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122705" y="1643164"/>
              <a:ext cx="9763976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PRIOR ART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05963"/>
              <a:ext cx="24403304" cy="2179757"/>
              <a:chOff x="0" y="0"/>
              <a:chExt cx="24403304" cy="217975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12700" y="22801"/>
                <a:ext cx="24377904" cy="2134155"/>
              </a:xfrm>
              <a:custGeom>
                <a:avLst/>
                <a:gdLst/>
                <a:ahLst/>
                <a:cxnLst/>
                <a:rect r="r" b="b" t="t" l="l"/>
                <a:pathLst>
                  <a:path h="2134155" w="24377904">
                    <a:moveTo>
                      <a:pt x="0" y="0"/>
                    </a:moveTo>
                    <a:lnTo>
                      <a:pt x="24377904" y="0"/>
                    </a:lnTo>
                    <a:lnTo>
                      <a:pt x="24377904" y="2134155"/>
                    </a:lnTo>
                    <a:lnTo>
                      <a:pt x="0" y="2134155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4403304" cy="2179757"/>
              </a:xfrm>
              <a:custGeom>
                <a:avLst/>
                <a:gdLst/>
                <a:ahLst/>
                <a:cxnLst/>
                <a:rect r="r" b="b" t="t" l="l"/>
                <a:pathLst>
                  <a:path h="2179757" w="24403304">
                    <a:moveTo>
                      <a:pt x="12700" y="0"/>
                    </a:moveTo>
                    <a:lnTo>
                      <a:pt x="24390604" y="0"/>
                    </a:lnTo>
                    <a:cubicBezTo>
                      <a:pt x="24397590" y="0"/>
                      <a:pt x="24403304" y="10260"/>
                      <a:pt x="24403304" y="22801"/>
                    </a:cubicBezTo>
                    <a:lnTo>
                      <a:pt x="24403304" y="2156956"/>
                    </a:lnTo>
                    <a:cubicBezTo>
                      <a:pt x="24403304" y="2169497"/>
                      <a:pt x="24397590" y="2179757"/>
                      <a:pt x="24390604" y="2179757"/>
                    </a:cubicBezTo>
                    <a:lnTo>
                      <a:pt x="12700" y="2179757"/>
                    </a:lnTo>
                    <a:cubicBezTo>
                      <a:pt x="5715" y="2179757"/>
                      <a:pt x="0" y="2169497"/>
                      <a:pt x="0" y="2156956"/>
                    </a:cubicBezTo>
                    <a:lnTo>
                      <a:pt x="0" y="22801"/>
                    </a:lnTo>
                    <a:cubicBezTo>
                      <a:pt x="0" y="10260"/>
                      <a:pt x="5715" y="0"/>
                      <a:pt x="12700" y="0"/>
                    </a:cubicBezTo>
                    <a:moveTo>
                      <a:pt x="12700" y="45602"/>
                    </a:moveTo>
                    <a:lnTo>
                      <a:pt x="12700" y="22801"/>
                    </a:lnTo>
                    <a:lnTo>
                      <a:pt x="25400" y="22801"/>
                    </a:lnTo>
                    <a:lnTo>
                      <a:pt x="25400" y="2156956"/>
                    </a:lnTo>
                    <a:lnTo>
                      <a:pt x="12700" y="2156956"/>
                    </a:lnTo>
                    <a:lnTo>
                      <a:pt x="12700" y="2134155"/>
                    </a:lnTo>
                    <a:lnTo>
                      <a:pt x="24390604" y="2134155"/>
                    </a:lnTo>
                    <a:lnTo>
                      <a:pt x="24390604" y="2156956"/>
                    </a:lnTo>
                    <a:lnTo>
                      <a:pt x="24377904" y="2156956"/>
                    </a:lnTo>
                    <a:lnTo>
                      <a:pt x="24377904" y="22801"/>
                    </a:lnTo>
                    <a:lnTo>
                      <a:pt x="24390604" y="22801"/>
                    </a:lnTo>
                    <a:lnTo>
                      <a:pt x="24390604" y="45602"/>
                    </a:lnTo>
                    <a:lnTo>
                      <a:pt x="12700" y="45602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389948" y="914400"/>
              <a:ext cx="18481648" cy="925668"/>
              <a:chOff x="0" y="0"/>
              <a:chExt cx="18481648" cy="92566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481649" cy="925668"/>
              </a:xfrm>
              <a:custGeom>
                <a:avLst/>
                <a:gdLst/>
                <a:ahLst/>
                <a:cxnLst/>
                <a:rect r="r" b="b" t="t" l="l"/>
                <a:pathLst>
                  <a:path h="925668" w="18481649">
                    <a:moveTo>
                      <a:pt x="0" y="0"/>
                    </a:moveTo>
                    <a:lnTo>
                      <a:pt x="18481649" y="0"/>
                    </a:lnTo>
                    <a:lnTo>
                      <a:pt x="18481649" y="925668"/>
                    </a:lnTo>
                    <a:lnTo>
                      <a:pt x="0" y="9256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7158" r="-14784" b="-395941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18481648" cy="9447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199"/>
                  </a:lnSpc>
                </a:pPr>
                <a:r>
                  <a:rPr lang="en-US" sz="3499" b="true">
                    <a:solidFill>
                      <a:srgbClr val="FFFFFF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What Existing Research Missed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59207" y="0"/>
              <a:ext cx="4411019" cy="2157172"/>
              <a:chOff x="0" y="0"/>
              <a:chExt cx="2906179" cy="142124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06141" cy="1421294"/>
              </a:xfrm>
              <a:custGeom>
                <a:avLst/>
                <a:gdLst/>
                <a:ahLst/>
                <a:cxnLst/>
                <a:rect r="r" b="b" t="t" l="l"/>
                <a:pathLst>
                  <a:path h="1421294" w="2906141">
                    <a:moveTo>
                      <a:pt x="0" y="0"/>
                    </a:moveTo>
                    <a:lnTo>
                      <a:pt x="2906141" y="0"/>
                    </a:lnTo>
                    <a:lnTo>
                      <a:pt x="2906141" y="1421294"/>
                    </a:lnTo>
                    <a:lnTo>
                      <a:pt x="0" y="142129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5431" r="-1" b="-5427"/>
                </a:stretch>
              </a:blipFill>
            </p:spPr>
          </p:sp>
        </p:grpSp>
      </p:grpSp>
      <p:sp>
        <p:nvSpPr>
          <p:cNvPr name="TextBox 15" id="15"/>
          <p:cNvSpPr txBox="true"/>
          <p:nvPr/>
        </p:nvSpPr>
        <p:spPr>
          <a:xfrm rot="0">
            <a:off x="5477647" y="2373804"/>
            <a:ext cx="732298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1"/>
              </a:lnSpc>
            </a:pPr>
            <a:r>
              <a:rPr lang="en-US" sz="3551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CORE CONTRIBUTIONS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5115" y="3392979"/>
            <a:ext cx="7534535" cy="2277572"/>
            <a:chOff x="0" y="0"/>
            <a:chExt cx="10046046" cy="303676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046046" cy="3002344"/>
              <a:chOff x="0" y="0"/>
              <a:chExt cx="10046046" cy="3002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046009" cy="3002407"/>
              </a:xfrm>
              <a:custGeom>
                <a:avLst/>
                <a:gdLst/>
                <a:ahLst/>
                <a:cxnLst/>
                <a:rect r="r" b="b" t="t" l="l"/>
                <a:pathLst>
                  <a:path h="3002407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3002407"/>
                    </a:lnTo>
                    <a:lnTo>
                      <a:pt x="0" y="3002407"/>
                    </a:lnTo>
                    <a:close/>
                  </a:path>
                </a:pathLst>
              </a:custGeom>
              <a:solidFill>
                <a:srgbClr val="F0F4F8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34419"/>
              <a:ext cx="183724" cy="3002344"/>
              <a:chOff x="0" y="0"/>
              <a:chExt cx="183724" cy="300234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83750" cy="3002407"/>
              </a:xfrm>
              <a:custGeom>
                <a:avLst/>
                <a:gdLst/>
                <a:ahLst/>
                <a:cxnLst/>
                <a:rect r="r" b="b" t="t" l="l"/>
                <a:pathLst>
                  <a:path h="3002407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3002407"/>
                    </a:lnTo>
                    <a:lnTo>
                      <a:pt x="0" y="3002407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459224" y="66764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3B82F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22950" y="162014"/>
              <a:ext cx="8261218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  <a:r>
                <a:rPr lang="en-US" sz="330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Manifold Velocity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14308" y="1269763"/>
              <a:ext cx="9122307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derivative of persistence landscape; detects speed of topological shattering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5115" y="6125852"/>
            <a:ext cx="7891396" cy="2251758"/>
            <a:chOff x="0" y="0"/>
            <a:chExt cx="10521862" cy="300234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046046" cy="3002344"/>
              <a:chOff x="0" y="0"/>
              <a:chExt cx="10046046" cy="300234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046009" cy="3002407"/>
              </a:xfrm>
              <a:custGeom>
                <a:avLst/>
                <a:gdLst/>
                <a:ahLst/>
                <a:cxnLst/>
                <a:rect r="r" b="b" t="t" l="l"/>
                <a:pathLst>
                  <a:path h="3002407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3002407"/>
                    </a:lnTo>
                    <a:lnTo>
                      <a:pt x="0" y="3002407"/>
                    </a:lnTo>
                    <a:close/>
                  </a:path>
                </a:pathLst>
              </a:custGeom>
              <a:solidFill>
                <a:srgbClr val="FFF7E6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183724" cy="3002344"/>
              <a:chOff x="0" y="0"/>
              <a:chExt cx="183724" cy="300234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3750" cy="3002407"/>
              </a:xfrm>
              <a:custGeom>
                <a:avLst/>
                <a:gdLst/>
                <a:ahLst/>
                <a:cxnLst/>
                <a:rect r="r" b="b" t="t" l="l"/>
                <a:pathLst>
                  <a:path h="3002407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3002407"/>
                    </a:lnTo>
                    <a:lnTo>
                      <a:pt x="0" y="3002407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404456" y="141999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322950" y="162014"/>
              <a:ext cx="8723097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  <a:r>
                <a:rPr lang="en-US" sz="330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Dual-Mode Architecture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59540" y="1229060"/>
              <a:ext cx="9862322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Production (gradient penalization) vs Research (SMOTE) for different goals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14112" y="3418793"/>
            <a:ext cx="7534535" cy="2251758"/>
            <a:chOff x="0" y="0"/>
            <a:chExt cx="10046046" cy="300234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0046046" cy="3002344"/>
              <a:chOff x="0" y="0"/>
              <a:chExt cx="10046046" cy="300234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046009" cy="3002407"/>
              </a:xfrm>
              <a:custGeom>
                <a:avLst/>
                <a:gdLst/>
                <a:ahLst/>
                <a:cxnLst/>
                <a:rect r="r" b="b" t="t" l="l"/>
                <a:pathLst>
                  <a:path h="3002407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3002407"/>
                    </a:lnTo>
                    <a:lnTo>
                      <a:pt x="0" y="3002407"/>
                    </a:lnTo>
                    <a:close/>
                  </a:path>
                </a:pathLst>
              </a:custGeom>
              <a:solidFill>
                <a:srgbClr val="F0FDF4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183724" cy="3002344"/>
              <a:chOff x="0" y="0"/>
              <a:chExt cx="183724" cy="300234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83750" cy="3002407"/>
              </a:xfrm>
              <a:custGeom>
                <a:avLst/>
                <a:gdLst/>
                <a:ahLst/>
                <a:cxnLst/>
                <a:rect r="r" b="b" t="t" l="l"/>
                <a:pathLst>
                  <a:path h="3002407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3002407"/>
                    </a:lnTo>
                    <a:lnTo>
                      <a:pt x="0" y="3002407"/>
                    </a:lnTo>
                    <a:close/>
                  </a:path>
                </a:pathLst>
              </a:custGeom>
              <a:solidFill>
                <a:srgbClr val="10B981"/>
              </a:solid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404456" y="141999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10B98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322950" y="162014"/>
              <a:ext cx="8261218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  <a:r>
                <a:rPr lang="en-US" sz="330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Dynamic Micro-Regime Training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258472" y="1221340"/>
              <a:ext cx="9529103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Trailing 2-year window per ticker; no stale macro-topologies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-9725" y="8832911"/>
            <a:ext cx="18297725" cy="1200938"/>
            <a:chOff x="0" y="0"/>
            <a:chExt cx="24396967" cy="1601251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181110"/>
              <a:ext cx="24396967" cy="1266241"/>
              <a:chOff x="0" y="0"/>
              <a:chExt cx="24396967" cy="126624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4396954" cy="1266211"/>
              </a:xfrm>
              <a:custGeom>
                <a:avLst/>
                <a:gdLst/>
                <a:ahLst/>
                <a:cxnLst/>
                <a:rect r="r" b="b" t="t" l="l"/>
                <a:pathLst>
                  <a:path h="1266211" w="24396954">
                    <a:moveTo>
                      <a:pt x="0" y="0"/>
                    </a:moveTo>
                    <a:lnTo>
                      <a:pt x="24396954" y="0"/>
                    </a:lnTo>
                    <a:lnTo>
                      <a:pt x="24396954" y="1266211"/>
                    </a:lnTo>
                    <a:lnTo>
                      <a:pt x="0" y="1266211"/>
                    </a:lnTo>
                    <a:close/>
                  </a:path>
                </a:pathLst>
              </a:custGeom>
              <a:solidFill>
                <a:srgbClr val="0A1628"/>
              </a:solid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013752" y="0"/>
              <a:ext cx="22417519" cy="1601251"/>
              <a:chOff x="0" y="0"/>
              <a:chExt cx="22417519" cy="160125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2417514" cy="1601248"/>
              </a:xfrm>
              <a:custGeom>
                <a:avLst/>
                <a:gdLst/>
                <a:ahLst/>
                <a:cxnLst/>
                <a:rect r="r" b="b" t="t" l="l"/>
                <a:pathLst>
                  <a:path h="1601248" w="22417514">
                    <a:moveTo>
                      <a:pt x="0" y="0"/>
                    </a:moveTo>
                    <a:lnTo>
                      <a:pt x="22417514" y="0"/>
                    </a:lnTo>
                    <a:lnTo>
                      <a:pt x="22417514" y="1601248"/>
                    </a:lnTo>
                    <a:lnTo>
                      <a:pt x="0" y="16012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22790" r="0" b="-222791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22417519" cy="162982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2"/>
                  </a:lnSpc>
                </a:pPr>
                <a:r>
                  <a:rPr lang="en-US" sz="3002" b="true">
                    <a:solidFill>
                      <a:srgbClr val="D4A843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Novelty = Gidea's topology + First Derivative + Ensemble ML fusion + Live deployment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73065" y="9689906"/>
            <a:ext cx="18297725" cy="9347902"/>
            <a:chOff x="0" y="0"/>
            <a:chExt cx="24396967" cy="124638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96954" cy="12463907"/>
            </a:xfrm>
            <a:custGeom>
              <a:avLst/>
              <a:gdLst/>
              <a:ahLst/>
              <a:cxnLst/>
              <a:rect r="r" b="b" t="t" l="l"/>
              <a:pathLst>
                <a:path h="1246390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2463907"/>
                  </a:lnTo>
                  <a:lnTo>
                    <a:pt x="0" y="1246390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851660" y="2324511"/>
            <a:ext cx="14524016" cy="7316473"/>
          </a:xfrm>
          <a:custGeom>
            <a:avLst/>
            <a:gdLst/>
            <a:ahLst/>
            <a:cxnLst/>
            <a:rect r="r" b="b" t="t" l="l"/>
            <a:pathLst>
              <a:path h="7316473" w="14524016">
                <a:moveTo>
                  <a:pt x="0" y="0"/>
                </a:moveTo>
                <a:lnTo>
                  <a:pt x="14524016" y="0"/>
                </a:lnTo>
                <a:lnTo>
                  <a:pt x="14524016" y="7316473"/>
                </a:lnTo>
                <a:lnTo>
                  <a:pt x="0" y="7316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he TDA Approach — Seeing the Shape of Risk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1626" y="2638018"/>
            <a:ext cx="732298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1"/>
              </a:lnSpc>
            </a:pPr>
            <a:r>
              <a:rPr lang="en-US" sz="3451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INNOVATION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0872" y="3714343"/>
            <a:ext cx="9063343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Static TDA detects odd-shaped markets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Velocity TDA detects markets actively breaking apart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A shattering manifold = imminent structural collapse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First derivative catches crashes 5 days early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00114" y="2647543"/>
            <a:ext cx="582181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50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ENSEMBLE WEIGHTS [3:2:1]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200114" y="3571037"/>
            <a:ext cx="5704456" cy="2251758"/>
            <a:chOff x="0" y="0"/>
            <a:chExt cx="7605941" cy="3002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05903" cy="3002407"/>
            </a:xfrm>
            <a:custGeom>
              <a:avLst/>
              <a:gdLst/>
              <a:ahLst/>
              <a:cxnLst/>
              <a:rect r="r" b="b" t="t" l="l"/>
              <a:pathLst>
                <a:path h="3002407" w="7605903">
                  <a:moveTo>
                    <a:pt x="0" y="0"/>
                  </a:moveTo>
                  <a:lnTo>
                    <a:pt x="7605903" y="0"/>
                  </a:lnTo>
                  <a:lnTo>
                    <a:pt x="7605903" y="3002407"/>
                  </a:lnTo>
                  <a:lnTo>
                    <a:pt x="0" y="3002407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41906" y="3885793"/>
            <a:ext cx="4620873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XGBoost (3)</a:t>
            </a:r>
          </a:p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(2)</a:t>
            </a:r>
          </a:p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(1)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73065" y="9689906"/>
            <a:ext cx="18297725" cy="9347902"/>
            <a:chOff x="0" y="0"/>
            <a:chExt cx="24396967" cy="124638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96954" cy="12463907"/>
            </a:xfrm>
            <a:custGeom>
              <a:avLst/>
              <a:gdLst/>
              <a:ahLst/>
              <a:cxnLst/>
              <a:rect r="r" b="b" t="t" l="l"/>
              <a:pathLst>
                <a:path h="1246390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2463907"/>
                  </a:lnTo>
                  <a:lnTo>
                    <a:pt x="0" y="1246390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8617325"/>
            <a:ext cx="18288000" cy="1281951"/>
            <a:chOff x="0" y="0"/>
            <a:chExt cx="24384000" cy="170926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384000" cy="1709268"/>
              <a:chOff x="0" y="0"/>
              <a:chExt cx="24384000" cy="170926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3393" y="32620"/>
                <a:ext cx="24357215" cy="1644028"/>
              </a:xfrm>
              <a:custGeom>
                <a:avLst/>
                <a:gdLst/>
                <a:ahLst/>
                <a:cxnLst/>
                <a:rect r="r" b="b" t="t" l="l"/>
                <a:pathLst>
                  <a:path h="1644028" w="24357215">
                    <a:moveTo>
                      <a:pt x="0" y="0"/>
                    </a:moveTo>
                    <a:lnTo>
                      <a:pt x="24357214" y="0"/>
                    </a:lnTo>
                    <a:lnTo>
                      <a:pt x="24357214" y="1644028"/>
                    </a:lnTo>
                    <a:lnTo>
                      <a:pt x="0" y="1644028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384000" cy="1709268"/>
              </a:xfrm>
              <a:custGeom>
                <a:avLst/>
                <a:gdLst/>
                <a:ahLst/>
                <a:cxnLst/>
                <a:rect r="r" b="b" t="t" l="l"/>
                <a:pathLst>
                  <a:path h="1709268" w="24384000">
                    <a:moveTo>
                      <a:pt x="13393" y="0"/>
                    </a:moveTo>
                    <a:lnTo>
                      <a:pt x="24370607" y="0"/>
                    </a:lnTo>
                    <a:cubicBezTo>
                      <a:pt x="24377974" y="0"/>
                      <a:pt x="24384000" y="14679"/>
                      <a:pt x="24384000" y="32620"/>
                    </a:cubicBezTo>
                    <a:lnTo>
                      <a:pt x="24384000" y="1676648"/>
                    </a:lnTo>
                    <a:cubicBezTo>
                      <a:pt x="24384000" y="1694589"/>
                      <a:pt x="24377974" y="1709268"/>
                      <a:pt x="24370607" y="1709268"/>
                    </a:cubicBezTo>
                    <a:lnTo>
                      <a:pt x="13393" y="1709268"/>
                    </a:lnTo>
                    <a:cubicBezTo>
                      <a:pt x="6027" y="1709268"/>
                      <a:pt x="0" y="1694589"/>
                      <a:pt x="0" y="1676648"/>
                    </a:cubicBezTo>
                    <a:lnTo>
                      <a:pt x="0" y="32620"/>
                    </a:lnTo>
                    <a:cubicBezTo>
                      <a:pt x="0" y="14679"/>
                      <a:pt x="6027" y="0"/>
                      <a:pt x="13393" y="0"/>
                    </a:cubicBezTo>
                    <a:moveTo>
                      <a:pt x="13393" y="65239"/>
                    </a:moveTo>
                    <a:lnTo>
                      <a:pt x="13393" y="32620"/>
                    </a:lnTo>
                    <a:lnTo>
                      <a:pt x="26785" y="32620"/>
                    </a:lnTo>
                    <a:lnTo>
                      <a:pt x="26785" y="1676648"/>
                    </a:lnTo>
                    <a:lnTo>
                      <a:pt x="13393" y="1676648"/>
                    </a:lnTo>
                    <a:lnTo>
                      <a:pt x="13393" y="1644029"/>
                    </a:lnTo>
                    <a:lnTo>
                      <a:pt x="24370607" y="1644029"/>
                    </a:lnTo>
                    <a:lnTo>
                      <a:pt x="24370607" y="1676648"/>
                    </a:lnTo>
                    <a:lnTo>
                      <a:pt x="24357214" y="1676648"/>
                    </a:lnTo>
                    <a:lnTo>
                      <a:pt x="24357214" y="32620"/>
                    </a:lnTo>
                    <a:lnTo>
                      <a:pt x="24370607" y="32620"/>
                    </a:lnTo>
                    <a:lnTo>
                      <a:pt x="24370607" y="65239"/>
                    </a:lnTo>
                    <a:lnTo>
                      <a:pt x="13393" y="6523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663197" y="0"/>
              <a:ext cx="23720803" cy="1709268"/>
              <a:chOff x="0" y="0"/>
              <a:chExt cx="23720803" cy="170926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3720803" cy="1709268"/>
              </a:xfrm>
              <a:custGeom>
                <a:avLst/>
                <a:gdLst/>
                <a:ahLst/>
                <a:cxnLst/>
                <a:rect r="r" b="b" t="t" l="l"/>
                <a:pathLst>
                  <a:path h="1709268" w="23720803">
                    <a:moveTo>
                      <a:pt x="0" y="0"/>
                    </a:moveTo>
                    <a:lnTo>
                      <a:pt x="23720803" y="0"/>
                    </a:lnTo>
                    <a:lnTo>
                      <a:pt x="23720803" y="1709268"/>
                    </a:lnTo>
                    <a:lnTo>
                      <a:pt x="0" y="17092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7702" r="5170" b="-175150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23720803" cy="17759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779"/>
                  </a:lnSpc>
                </a:pPr>
                <a:r>
                  <a:rPr lang="en-US" b="true" sz="3149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40 TDA features on ~500 rows → severe overfitting. PCA retains dominant topological signal, discards noise.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he TDA Approach — Seeing the Shape of Risk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42029" y="2616772"/>
          <a:ext cx="16777107" cy="4824412"/>
        </p:xfrm>
        <a:graphic>
          <a:graphicData uri="http://schemas.openxmlformats.org/drawingml/2006/table">
            <a:tbl>
              <a:tblPr/>
              <a:tblGrid>
                <a:gridCol w="2516566"/>
                <a:gridCol w="7130271"/>
                <a:gridCol w="7130271"/>
              </a:tblGrid>
              <a:tr h="7436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PRODUCTION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RESEARCH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1144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Imbalance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Gradient Penalization </a:t>
                      </a:r>
                      <a:endParaRPr lang="en-US" sz="1100"/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scale_pos_weight = √(pos_ratio)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SMOTE Resampling · 1:1 class balance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4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Voting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Weighted [3:2:1]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Equal-weight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34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100% real market data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Pinned 2-year 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4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Goal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High accuracy · No false alarms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High recall · Prove TDA signal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34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~77.5% live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78.65% accuracy · F1=0.5128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750589" y="8526481"/>
            <a:ext cx="16813139" cy="1501169"/>
            <a:chOff x="0" y="0"/>
            <a:chExt cx="22417519" cy="20015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17532" cy="2001520"/>
            </a:xfrm>
            <a:custGeom>
              <a:avLst/>
              <a:gdLst/>
              <a:ahLst/>
              <a:cxnLst/>
              <a:rect r="r" b="b" t="t" l="l"/>
              <a:pathLst>
                <a:path h="2001520" w="22417532">
                  <a:moveTo>
                    <a:pt x="0" y="0"/>
                  </a:moveTo>
                  <a:lnTo>
                    <a:pt x="22417532" y="0"/>
                  </a:lnTo>
                  <a:lnTo>
                    <a:pt x="22417532" y="2001520"/>
                  </a:lnTo>
                  <a:lnTo>
                    <a:pt x="0" y="2001520"/>
                  </a:lnTo>
                  <a:close/>
                </a:path>
              </a:pathLst>
            </a:custGeom>
            <a:solidFill>
              <a:srgbClr val="FFF7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0589" y="8526481"/>
            <a:ext cx="16813139" cy="90068"/>
            <a:chOff x="0" y="0"/>
            <a:chExt cx="22417519" cy="1200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17532" cy="120142"/>
            </a:xfrm>
            <a:custGeom>
              <a:avLst/>
              <a:gdLst/>
              <a:ahLst/>
              <a:cxnLst/>
              <a:rect r="r" b="b" t="t" l="l"/>
              <a:pathLst>
                <a:path h="120142" w="22417532">
                  <a:moveTo>
                    <a:pt x="0" y="0"/>
                  </a:moveTo>
                  <a:lnTo>
                    <a:pt x="22417532" y="0"/>
                  </a:lnTo>
                  <a:lnTo>
                    <a:pt x="22417532" y="120142"/>
                  </a:lnTo>
                  <a:lnTo>
                    <a:pt x="0" y="12014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0941" y="8676604"/>
            <a:ext cx="15912427" cy="1200938"/>
            <a:chOff x="0" y="0"/>
            <a:chExt cx="21216569" cy="16012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16576" cy="1601248"/>
            </a:xfrm>
            <a:custGeom>
              <a:avLst/>
              <a:gdLst/>
              <a:ahLst/>
              <a:cxnLst/>
              <a:rect r="r" b="b" t="t" l="l"/>
              <a:pathLst>
                <a:path h="1601248" w="21216576">
                  <a:moveTo>
                    <a:pt x="0" y="0"/>
                  </a:moveTo>
                  <a:lnTo>
                    <a:pt x="21216576" y="0"/>
                  </a:lnTo>
                  <a:lnTo>
                    <a:pt x="21216576" y="1601248"/>
                  </a:lnTo>
                  <a:lnTo>
                    <a:pt x="0" y="160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216569" cy="1620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sz="3302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Zero stored weights — model retrains from raw data on every API request. No pickle, no stale model.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42029" y="7869810"/>
            <a:ext cx="1663025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Stack: Python 3.12 · Giotto-TDA · XGBoost · scikit-learn · FastAPI · React 19 · Vite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Dual Mode Architecture- Production Ready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8392" y="5423438"/>
            <a:ext cx="15923000" cy="686336"/>
            <a:chOff x="0" y="0"/>
            <a:chExt cx="21230666" cy="9151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30667" cy="915119"/>
            </a:xfrm>
            <a:custGeom>
              <a:avLst/>
              <a:gdLst/>
              <a:ahLst/>
              <a:cxnLst/>
              <a:rect r="r" b="b" t="t" l="l"/>
              <a:pathLst>
                <a:path h="915119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1" r="0" b="-4020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230666" cy="94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78.65% Accuracy Is More Meaningful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55446" y="2539763"/>
            <a:ext cx="1663025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"A model that guesses 'No Crash' every day achieves 87%+ accuracy with 0% Recall."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40864" y="4578295"/>
          <a:ext cx="16777107" cy="2938462"/>
        </p:xfrm>
        <a:graphic>
          <a:graphicData uri="http://schemas.openxmlformats.org/drawingml/2006/table">
            <a:tbl>
              <a:tblPr/>
              <a:tblGrid>
                <a:gridCol w="3355421"/>
                <a:gridCol w="6710843"/>
                <a:gridCol w="6710843"/>
              </a:tblGrid>
              <a:tr h="734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Naive 'Always Safe'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TFRO Ensemble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34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87%+ (guaranteed)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78.65% (deliberately lower)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4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0.5128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34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MCC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+0.3764 (strong positive signal)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740864" y="8440864"/>
            <a:ext cx="16813139" cy="1501169"/>
            <a:chOff x="0" y="0"/>
            <a:chExt cx="22417519" cy="20015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17532" cy="2001520"/>
            </a:xfrm>
            <a:custGeom>
              <a:avLst/>
              <a:gdLst/>
              <a:ahLst/>
              <a:cxnLst/>
              <a:rect r="r" b="b" t="t" l="l"/>
              <a:pathLst>
                <a:path h="2001520" w="22417532">
                  <a:moveTo>
                    <a:pt x="0" y="0"/>
                  </a:moveTo>
                  <a:lnTo>
                    <a:pt x="22417532" y="0"/>
                  </a:lnTo>
                  <a:lnTo>
                    <a:pt x="22417532" y="2001520"/>
                  </a:lnTo>
                  <a:lnTo>
                    <a:pt x="0" y="2001520"/>
                  </a:lnTo>
                  <a:close/>
                </a:path>
              </a:pathLst>
            </a:custGeom>
            <a:solidFill>
              <a:srgbClr val="F0F4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1216" y="8590988"/>
            <a:ext cx="15912427" cy="1200938"/>
            <a:chOff x="0" y="0"/>
            <a:chExt cx="21216569" cy="16012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16576" cy="1601248"/>
            </a:xfrm>
            <a:custGeom>
              <a:avLst/>
              <a:gdLst/>
              <a:ahLst/>
              <a:cxnLst/>
              <a:rect r="r" b="b" t="t" l="l"/>
              <a:pathLst>
                <a:path h="1601248" w="21216576">
                  <a:moveTo>
                    <a:pt x="0" y="0"/>
                  </a:moveTo>
                  <a:lnTo>
                    <a:pt x="21216576" y="0"/>
                  </a:lnTo>
                  <a:lnTo>
                    <a:pt x="21216576" y="1601248"/>
                  </a:lnTo>
                  <a:lnTo>
                    <a:pt x="0" y="160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216569" cy="1620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3B82F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MCC = +0.3764 on 87% majority-class data confirms genuine structural learning, not noise fitting.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the Lower Accuracy is more Meaningful?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0589" y="2228498"/>
            <a:ext cx="1663025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Chronological 80/20 split · SMOTE on training only · No data leakage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50589" y="3123848"/>
          <a:ext cx="16777107" cy="2938462"/>
        </p:xfrm>
        <a:graphic>
          <a:graphicData uri="http://schemas.openxmlformats.org/drawingml/2006/table">
            <a:tbl>
              <a:tblPr/>
              <a:tblGrid>
                <a:gridCol w="4194277"/>
                <a:gridCol w="4194277"/>
                <a:gridCol w="4194277"/>
                <a:gridCol w="4194277"/>
              </a:tblGrid>
              <a:tr h="734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Model Configuration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MCC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34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Baseline (TA Only)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64.04%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0.3333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0.0990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4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TDA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56.18%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0.0000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-0.2805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34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Full Ensemble (TDA+TA)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78.65%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0.5128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0.3764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887549" y="6535332"/>
            <a:ext cx="16512902" cy="1801406"/>
            <a:chOff x="0" y="0"/>
            <a:chExt cx="22017203" cy="240187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805320" cy="2401875"/>
              <a:chOff x="0" y="0"/>
              <a:chExt cx="6805320" cy="24018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805295" cy="2401824"/>
              </a:xfrm>
              <a:custGeom>
                <a:avLst/>
                <a:gdLst/>
                <a:ahLst/>
                <a:cxnLst/>
                <a:rect r="r" b="b" t="t" l="l"/>
                <a:pathLst>
                  <a:path h="2401824" w="6805295">
                    <a:moveTo>
                      <a:pt x="0" y="0"/>
                    </a:moveTo>
                    <a:lnTo>
                      <a:pt x="6805295" y="0"/>
                    </a:lnTo>
                    <a:lnTo>
                      <a:pt x="6805295" y="2401824"/>
                    </a:lnTo>
                    <a:lnTo>
                      <a:pt x="0" y="2401824"/>
                    </a:lnTo>
                    <a:close/>
                  </a:path>
                </a:pathLst>
              </a:custGeom>
              <a:solidFill>
                <a:srgbClr val="0A162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6805320" cy="91516"/>
              <a:chOff x="0" y="0"/>
              <a:chExt cx="6805320" cy="9151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05295" cy="91567"/>
              </a:xfrm>
              <a:custGeom>
                <a:avLst/>
                <a:gdLst/>
                <a:ahLst/>
                <a:cxnLst/>
                <a:rect r="r" b="b" t="t" l="l"/>
                <a:pathLst>
                  <a:path h="91567" w="6805295">
                    <a:moveTo>
                      <a:pt x="0" y="0"/>
                    </a:moveTo>
                    <a:lnTo>
                      <a:pt x="6805295" y="0"/>
                    </a:lnTo>
                    <a:lnTo>
                      <a:pt x="6805295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20091"/>
              <a:ext cx="6805320" cy="1123717"/>
              <a:chOff x="0" y="0"/>
              <a:chExt cx="6805320" cy="112371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805316" cy="1123721"/>
              </a:xfrm>
              <a:custGeom>
                <a:avLst/>
                <a:gdLst/>
                <a:ahLst/>
                <a:cxnLst/>
                <a:rect r="r" b="b" t="t" l="l"/>
                <a:pathLst>
                  <a:path h="1123721" w="6805316">
                    <a:moveTo>
                      <a:pt x="0" y="0"/>
                    </a:moveTo>
                    <a:lnTo>
                      <a:pt x="6805316" y="0"/>
                    </a:lnTo>
                    <a:lnTo>
                      <a:pt x="6805316" y="1123721"/>
                    </a:lnTo>
                    <a:lnTo>
                      <a:pt x="0" y="112372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2378" r="0" b="-53626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6805320" cy="11427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043"/>
                  </a:lnSpc>
                </a:pPr>
                <a:r>
                  <a:rPr lang="en-US" sz="4203" b="true">
                    <a:solidFill>
                      <a:srgbClr val="D4A843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+14.61%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21920" y="1544041"/>
              <a:ext cx="6561480" cy="56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Accuracy vs TA-only baseline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7605941" y="0"/>
              <a:ext cx="6805320" cy="2401875"/>
              <a:chOff x="0" y="0"/>
              <a:chExt cx="6805320" cy="24018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805295" cy="2401824"/>
              </a:xfrm>
              <a:custGeom>
                <a:avLst/>
                <a:gdLst/>
                <a:ahLst/>
                <a:cxnLst/>
                <a:rect r="r" b="b" t="t" l="l"/>
                <a:pathLst>
                  <a:path h="2401824" w="6805295">
                    <a:moveTo>
                      <a:pt x="0" y="0"/>
                    </a:moveTo>
                    <a:lnTo>
                      <a:pt x="6805295" y="0"/>
                    </a:lnTo>
                    <a:lnTo>
                      <a:pt x="6805295" y="2401824"/>
                    </a:lnTo>
                    <a:lnTo>
                      <a:pt x="0" y="2401824"/>
                    </a:lnTo>
                    <a:close/>
                  </a:path>
                </a:pathLst>
              </a:custGeom>
              <a:solidFill>
                <a:srgbClr val="0A1628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7605941" y="0"/>
              <a:ext cx="6805320" cy="91516"/>
              <a:chOff x="0" y="0"/>
              <a:chExt cx="6805320" cy="9151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805295" cy="91567"/>
              </a:xfrm>
              <a:custGeom>
                <a:avLst/>
                <a:gdLst/>
                <a:ahLst/>
                <a:cxnLst/>
                <a:rect r="r" b="b" t="t" l="l"/>
                <a:pathLst>
                  <a:path h="91567" w="6805295">
                    <a:moveTo>
                      <a:pt x="0" y="0"/>
                    </a:moveTo>
                    <a:lnTo>
                      <a:pt x="6805295" y="0"/>
                    </a:lnTo>
                    <a:lnTo>
                      <a:pt x="6805295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605941" y="120091"/>
              <a:ext cx="6805320" cy="1123717"/>
              <a:chOff x="0" y="0"/>
              <a:chExt cx="6805320" cy="112371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5316" cy="1123721"/>
              </a:xfrm>
              <a:custGeom>
                <a:avLst/>
                <a:gdLst/>
                <a:ahLst/>
                <a:cxnLst/>
                <a:rect r="r" b="b" t="t" l="l"/>
                <a:pathLst>
                  <a:path h="1123721" w="6805316">
                    <a:moveTo>
                      <a:pt x="0" y="0"/>
                    </a:moveTo>
                    <a:lnTo>
                      <a:pt x="6805316" y="0"/>
                    </a:lnTo>
                    <a:lnTo>
                      <a:pt x="6805316" y="1123721"/>
                    </a:lnTo>
                    <a:lnTo>
                      <a:pt x="0" y="112372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2378" r="0" b="-53626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6805320" cy="11427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043"/>
                  </a:lnSpc>
                </a:pPr>
                <a:r>
                  <a:rPr lang="en-US" sz="4203" b="true">
                    <a:solidFill>
                      <a:srgbClr val="D4A843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+53.85%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7727861" y="1544041"/>
              <a:ext cx="6561480" cy="56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Relative F1 improvement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15211882" y="0"/>
              <a:ext cx="6805320" cy="2401875"/>
              <a:chOff x="0" y="0"/>
              <a:chExt cx="6805320" cy="240187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805295" cy="2401824"/>
              </a:xfrm>
              <a:custGeom>
                <a:avLst/>
                <a:gdLst/>
                <a:ahLst/>
                <a:cxnLst/>
                <a:rect r="r" b="b" t="t" l="l"/>
                <a:pathLst>
                  <a:path h="2401824" w="6805295">
                    <a:moveTo>
                      <a:pt x="0" y="0"/>
                    </a:moveTo>
                    <a:lnTo>
                      <a:pt x="6805295" y="0"/>
                    </a:lnTo>
                    <a:lnTo>
                      <a:pt x="6805295" y="2401824"/>
                    </a:lnTo>
                    <a:lnTo>
                      <a:pt x="0" y="2401824"/>
                    </a:lnTo>
                    <a:close/>
                  </a:path>
                </a:pathLst>
              </a:custGeom>
              <a:solidFill>
                <a:srgbClr val="0A1628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5211882" y="0"/>
              <a:ext cx="6805320" cy="91516"/>
              <a:chOff x="0" y="0"/>
              <a:chExt cx="6805320" cy="9151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805295" cy="91567"/>
              </a:xfrm>
              <a:custGeom>
                <a:avLst/>
                <a:gdLst/>
                <a:ahLst/>
                <a:cxnLst/>
                <a:rect r="r" b="b" t="t" l="l"/>
                <a:pathLst>
                  <a:path h="91567" w="6805295">
                    <a:moveTo>
                      <a:pt x="0" y="0"/>
                    </a:moveTo>
                    <a:lnTo>
                      <a:pt x="6805295" y="0"/>
                    </a:lnTo>
                    <a:lnTo>
                      <a:pt x="6805295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5211882" y="120091"/>
              <a:ext cx="6805320" cy="1123717"/>
              <a:chOff x="0" y="0"/>
              <a:chExt cx="6805320" cy="112371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805316" cy="1123721"/>
              </a:xfrm>
              <a:custGeom>
                <a:avLst/>
                <a:gdLst/>
                <a:ahLst/>
                <a:cxnLst/>
                <a:rect r="r" b="b" t="t" l="l"/>
                <a:pathLst>
                  <a:path h="1123721" w="6805316">
                    <a:moveTo>
                      <a:pt x="0" y="0"/>
                    </a:moveTo>
                    <a:lnTo>
                      <a:pt x="6805316" y="0"/>
                    </a:lnTo>
                    <a:lnTo>
                      <a:pt x="6805316" y="1123721"/>
                    </a:lnTo>
                    <a:lnTo>
                      <a:pt x="0" y="112372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2378" r="0" b="-53626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6805320" cy="11427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043"/>
                  </a:lnSpc>
                </a:pPr>
                <a:r>
                  <a:rPr lang="en-US" sz="4203" b="true">
                    <a:solidFill>
                      <a:srgbClr val="D4A843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+280%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5333802" y="1544041"/>
              <a:ext cx="6561480" cy="56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MCC improvement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42029" y="8772525"/>
            <a:ext cx="1663025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1A2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TDA alone has 0% Recall — topology detects anomalies but can't determine direction. Fusion with TA grounds the signal.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Ablation Study: AAPL Dataset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870" y="2754423"/>
            <a:ext cx="1663025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parameters held constant · Full ensemble · Varying d ∈ {2, 3, 4, 5}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774939" y="3491389"/>
          <a:ext cx="10752600" cy="3671888"/>
        </p:xfrm>
        <a:graphic>
          <a:graphicData uri="http://schemas.openxmlformats.org/drawingml/2006/table">
            <a:tbl>
              <a:tblPr/>
              <a:tblGrid>
                <a:gridCol w="3584200"/>
                <a:gridCol w="3584200"/>
                <a:gridCol w="3584200"/>
              </a:tblGrid>
              <a:tr h="734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Dimension (d)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E3A5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MCC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34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 = 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0.4667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0.4051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4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 = 3 (optimal)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0.5128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0.3764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34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 = 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0.1224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-0.2020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4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 = 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0.2439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A2B3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0.0178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7972901"/>
            <a:ext cx="1663025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1E3A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Takens' Theorem (1981): for 1D time series, d = 2m+1 = 3 is the minimal sufficient reconstruction. d ≥ 4 overfits on ~500 rows.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Sensitivity to Takens Embedding Dimensions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0589" y="2873855"/>
            <a:ext cx="9007040" cy="3002347"/>
            <a:chOff x="0" y="0"/>
            <a:chExt cx="12009387" cy="40031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09374" cy="4003167"/>
            </a:xfrm>
            <a:custGeom>
              <a:avLst/>
              <a:gdLst/>
              <a:ahLst/>
              <a:cxnLst/>
              <a:rect r="r" b="b" t="t" l="l"/>
              <a:pathLst>
                <a:path h="4003167" w="12009374">
                  <a:moveTo>
                    <a:pt x="0" y="0"/>
                  </a:moveTo>
                  <a:lnTo>
                    <a:pt x="12009374" y="0"/>
                  </a:lnTo>
                  <a:lnTo>
                    <a:pt x="12009374" y="4003167"/>
                  </a:lnTo>
                  <a:lnTo>
                    <a:pt x="0" y="4003167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92381" y="3210287"/>
            <a:ext cx="8223685" cy="262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TARGET : AAPL  |  PRICE: $210.45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Risk Level   : LOW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Risk Score   : 25 / 100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Confidence   : 94.2%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Backtest Acc : 77.5%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Ensemble     : [3:2:1] XGB/RF/LR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508209" y="2873855"/>
            <a:ext cx="2129124" cy="1651292"/>
            <a:chOff x="0" y="0"/>
            <a:chExt cx="2802192" cy="21733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2128" cy="2173260"/>
            </a:xfrm>
            <a:custGeom>
              <a:avLst/>
              <a:gdLst/>
              <a:ahLst/>
              <a:cxnLst/>
              <a:rect r="r" b="b" t="t" l="l"/>
              <a:pathLst>
                <a:path h="2173260" w="2802128">
                  <a:moveTo>
                    <a:pt x="0" y="0"/>
                  </a:moveTo>
                  <a:lnTo>
                    <a:pt x="2802128" y="0"/>
                  </a:lnTo>
                  <a:lnTo>
                    <a:pt x="2802128" y="2173260"/>
                  </a:lnTo>
                  <a:lnTo>
                    <a:pt x="0" y="2173260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08209" y="2873855"/>
            <a:ext cx="2129124" cy="69535"/>
            <a:chOff x="0" y="0"/>
            <a:chExt cx="2802192" cy="915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02128" cy="91567"/>
            </a:xfrm>
            <a:custGeom>
              <a:avLst/>
              <a:gdLst/>
              <a:ahLst/>
              <a:cxnLst/>
              <a:rect r="r" b="b" t="t" l="l"/>
              <a:pathLst>
                <a:path h="91567" w="2802128">
                  <a:moveTo>
                    <a:pt x="0" y="0"/>
                  </a:moveTo>
                  <a:lnTo>
                    <a:pt x="2802128" y="0"/>
                  </a:lnTo>
                  <a:lnTo>
                    <a:pt x="280212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508209" y="2965111"/>
            <a:ext cx="2129124" cy="853807"/>
            <a:chOff x="0" y="0"/>
            <a:chExt cx="2802192" cy="11237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02189" cy="1123721"/>
            </a:xfrm>
            <a:custGeom>
              <a:avLst/>
              <a:gdLst/>
              <a:ahLst/>
              <a:cxnLst/>
              <a:rect r="r" b="b" t="t" l="l"/>
              <a:pathLst>
                <a:path h="1123721" w="2802189">
                  <a:moveTo>
                    <a:pt x="0" y="0"/>
                  </a:moveTo>
                  <a:lnTo>
                    <a:pt x="2802189" y="0"/>
                  </a:lnTo>
                  <a:lnTo>
                    <a:pt x="2802189" y="1123721"/>
                  </a:lnTo>
                  <a:lnTo>
                    <a:pt x="0" y="1123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5" r="0" b="157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802192" cy="1142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25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600844" y="3889651"/>
            <a:ext cx="194385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735">
                <a:solidFill>
                  <a:srgbClr val="FEFEF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Score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941496" y="2873855"/>
            <a:ext cx="2129124" cy="1651292"/>
            <a:chOff x="0" y="0"/>
            <a:chExt cx="2802192" cy="21733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02128" cy="2173260"/>
            </a:xfrm>
            <a:custGeom>
              <a:avLst/>
              <a:gdLst/>
              <a:ahLst/>
              <a:cxnLst/>
              <a:rect r="r" b="b" t="t" l="l"/>
              <a:pathLst>
                <a:path h="2173260" w="2802128">
                  <a:moveTo>
                    <a:pt x="0" y="0"/>
                  </a:moveTo>
                  <a:lnTo>
                    <a:pt x="2802128" y="0"/>
                  </a:lnTo>
                  <a:lnTo>
                    <a:pt x="2802128" y="2173260"/>
                  </a:lnTo>
                  <a:lnTo>
                    <a:pt x="0" y="2173260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941496" y="2873855"/>
            <a:ext cx="2129124" cy="69535"/>
            <a:chOff x="0" y="0"/>
            <a:chExt cx="2802192" cy="915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02128" cy="91567"/>
            </a:xfrm>
            <a:custGeom>
              <a:avLst/>
              <a:gdLst/>
              <a:ahLst/>
              <a:cxnLst/>
              <a:rect r="r" b="b" t="t" l="l"/>
              <a:pathLst>
                <a:path h="91567" w="2802128">
                  <a:moveTo>
                    <a:pt x="0" y="0"/>
                  </a:moveTo>
                  <a:lnTo>
                    <a:pt x="2802128" y="0"/>
                  </a:lnTo>
                  <a:lnTo>
                    <a:pt x="280212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941496" y="2965111"/>
            <a:ext cx="2129124" cy="853807"/>
            <a:chOff x="0" y="0"/>
            <a:chExt cx="2802192" cy="11237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2189" cy="1123721"/>
            </a:xfrm>
            <a:custGeom>
              <a:avLst/>
              <a:gdLst/>
              <a:ahLst/>
              <a:cxnLst/>
              <a:rect r="r" b="b" t="t" l="l"/>
              <a:pathLst>
                <a:path h="1123721" w="2802189">
                  <a:moveTo>
                    <a:pt x="0" y="0"/>
                  </a:moveTo>
                  <a:lnTo>
                    <a:pt x="2802189" y="0"/>
                  </a:lnTo>
                  <a:lnTo>
                    <a:pt x="2802189" y="1123721"/>
                  </a:lnTo>
                  <a:lnTo>
                    <a:pt x="0" y="1123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5" r="0" b="1578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802192" cy="1142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94.2%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034131" y="3889651"/>
            <a:ext cx="194385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735">
                <a:solidFill>
                  <a:srgbClr val="FEFEF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Confidence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374773" y="2873855"/>
            <a:ext cx="2129124" cy="1651292"/>
            <a:chOff x="0" y="0"/>
            <a:chExt cx="2802192" cy="21733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02128" cy="2173260"/>
            </a:xfrm>
            <a:custGeom>
              <a:avLst/>
              <a:gdLst/>
              <a:ahLst/>
              <a:cxnLst/>
              <a:rect r="r" b="b" t="t" l="l"/>
              <a:pathLst>
                <a:path h="2173260" w="2802128">
                  <a:moveTo>
                    <a:pt x="0" y="0"/>
                  </a:moveTo>
                  <a:lnTo>
                    <a:pt x="2802128" y="0"/>
                  </a:lnTo>
                  <a:lnTo>
                    <a:pt x="2802128" y="2173260"/>
                  </a:lnTo>
                  <a:lnTo>
                    <a:pt x="0" y="2173260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374773" y="2873855"/>
            <a:ext cx="2129124" cy="69535"/>
            <a:chOff x="0" y="0"/>
            <a:chExt cx="2802192" cy="915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02128" cy="91567"/>
            </a:xfrm>
            <a:custGeom>
              <a:avLst/>
              <a:gdLst/>
              <a:ahLst/>
              <a:cxnLst/>
              <a:rect r="r" b="b" t="t" l="l"/>
              <a:pathLst>
                <a:path h="91567" w="2802128">
                  <a:moveTo>
                    <a:pt x="0" y="0"/>
                  </a:moveTo>
                  <a:lnTo>
                    <a:pt x="2802128" y="0"/>
                  </a:lnTo>
                  <a:lnTo>
                    <a:pt x="280212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374773" y="2965111"/>
            <a:ext cx="2129124" cy="853807"/>
            <a:chOff x="0" y="0"/>
            <a:chExt cx="2802192" cy="11237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02189" cy="1123721"/>
            </a:xfrm>
            <a:custGeom>
              <a:avLst/>
              <a:gdLst/>
              <a:ahLst/>
              <a:cxnLst/>
              <a:rect r="r" b="b" t="t" l="l"/>
              <a:pathLst>
                <a:path h="1123721" w="2802189">
                  <a:moveTo>
                    <a:pt x="0" y="0"/>
                  </a:moveTo>
                  <a:lnTo>
                    <a:pt x="2802189" y="0"/>
                  </a:lnTo>
                  <a:lnTo>
                    <a:pt x="2802189" y="1123721"/>
                  </a:lnTo>
                  <a:lnTo>
                    <a:pt x="0" y="1123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5" r="0" b="1578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802192" cy="1142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77.5%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5467409" y="3889651"/>
            <a:ext cx="194385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735">
                <a:solidFill>
                  <a:srgbClr val="FEFEF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Accuracy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0589" y="6250280"/>
            <a:ext cx="73229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RETAIL ADVICE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50589" y="6968985"/>
            <a:ext cx="16663016" cy="2289315"/>
            <a:chOff x="0" y="0"/>
            <a:chExt cx="22217355" cy="305242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005472" cy="3052420"/>
              <a:chOff x="0" y="0"/>
              <a:chExt cx="7005472" cy="305242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005447" cy="3052458"/>
              </a:xfrm>
              <a:custGeom>
                <a:avLst/>
                <a:gdLst/>
                <a:ahLst/>
                <a:cxnLst/>
                <a:rect r="r" b="b" t="t" l="l"/>
                <a:pathLst>
                  <a:path h="3052458" w="7005447">
                    <a:moveTo>
                      <a:pt x="0" y="0"/>
                    </a:moveTo>
                    <a:lnTo>
                      <a:pt x="7005447" y="0"/>
                    </a:lnTo>
                    <a:lnTo>
                      <a:pt x="7005447" y="3052458"/>
                    </a:lnTo>
                    <a:lnTo>
                      <a:pt x="0" y="30524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7005472" cy="91516"/>
              <a:chOff x="0" y="0"/>
              <a:chExt cx="7005472" cy="9151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005447" cy="91567"/>
              </a:xfrm>
              <a:custGeom>
                <a:avLst/>
                <a:gdLst/>
                <a:ahLst/>
                <a:cxnLst/>
                <a:rect r="r" b="b" t="t" l="l"/>
                <a:pathLst>
                  <a:path h="91567" w="7005447">
                    <a:moveTo>
                      <a:pt x="0" y="0"/>
                    </a:moveTo>
                    <a:lnTo>
                      <a:pt x="7005447" y="0"/>
                    </a:lnTo>
                    <a:lnTo>
                      <a:pt x="7005447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176495" y="182016"/>
              <a:ext cx="767874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1A2B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🛡️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82042" y="842531"/>
              <a:ext cx="6441376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1"/>
                </a:lnSpc>
              </a:pPr>
              <a:r>
                <a:rPr lang="en-US" sz="315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Safety Net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82042" y="1402969"/>
              <a:ext cx="6441376" cy="1111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1"/>
                </a:lnSpc>
              </a:pPr>
              <a:r>
                <a:rPr lang="en-US" sz="270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Auto-sell at $196.40 if price drops (2× ATR stop-loss)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7605941" y="0"/>
              <a:ext cx="7005472" cy="3052420"/>
              <a:chOff x="0" y="0"/>
              <a:chExt cx="7005472" cy="305242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7005447" cy="3052458"/>
              </a:xfrm>
              <a:custGeom>
                <a:avLst/>
                <a:gdLst/>
                <a:ahLst/>
                <a:cxnLst/>
                <a:rect r="r" b="b" t="t" l="l"/>
                <a:pathLst>
                  <a:path h="3052458" w="7005447">
                    <a:moveTo>
                      <a:pt x="0" y="0"/>
                    </a:moveTo>
                    <a:lnTo>
                      <a:pt x="7005447" y="0"/>
                    </a:lnTo>
                    <a:lnTo>
                      <a:pt x="7005447" y="3052458"/>
                    </a:lnTo>
                    <a:lnTo>
                      <a:pt x="0" y="30524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7605941" y="0"/>
              <a:ext cx="7005472" cy="91516"/>
              <a:chOff x="0" y="0"/>
              <a:chExt cx="7005472" cy="9151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7005447" cy="91567"/>
              </a:xfrm>
              <a:custGeom>
                <a:avLst/>
                <a:gdLst/>
                <a:ahLst/>
                <a:cxnLst/>
                <a:rect r="r" b="b" t="t" l="l"/>
                <a:pathLst>
                  <a:path h="91567" w="7005447">
                    <a:moveTo>
                      <a:pt x="0" y="0"/>
                    </a:moveTo>
                    <a:lnTo>
                      <a:pt x="7005447" y="0"/>
                    </a:lnTo>
                    <a:lnTo>
                      <a:pt x="7005447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7782436" y="182016"/>
              <a:ext cx="767874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1A2B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💰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7887983" y="842531"/>
              <a:ext cx="6441376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1"/>
                </a:lnSpc>
              </a:pPr>
              <a:r>
                <a:rPr lang="en-US" sz="315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Spending Limit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7887983" y="1402969"/>
              <a:ext cx="6441376" cy="1111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1"/>
                </a:lnSpc>
              </a:pPr>
              <a:r>
                <a:rPr lang="en-US" sz="270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Max 21.2% of portfolio in AAPL (1% Risk Rule)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15211882" y="0"/>
              <a:ext cx="7005472" cy="3052420"/>
              <a:chOff x="0" y="0"/>
              <a:chExt cx="7005472" cy="305242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7005447" cy="3052458"/>
              </a:xfrm>
              <a:custGeom>
                <a:avLst/>
                <a:gdLst/>
                <a:ahLst/>
                <a:cxnLst/>
                <a:rect r="r" b="b" t="t" l="l"/>
                <a:pathLst>
                  <a:path h="3052458" w="7005447">
                    <a:moveTo>
                      <a:pt x="0" y="0"/>
                    </a:moveTo>
                    <a:lnTo>
                      <a:pt x="7005447" y="0"/>
                    </a:lnTo>
                    <a:lnTo>
                      <a:pt x="7005447" y="3052458"/>
                    </a:lnTo>
                    <a:lnTo>
                      <a:pt x="0" y="30524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5211882" y="0"/>
              <a:ext cx="7005472" cy="91516"/>
              <a:chOff x="0" y="0"/>
              <a:chExt cx="7005472" cy="9151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005447" cy="91567"/>
              </a:xfrm>
              <a:custGeom>
                <a:avLst/>
                <a:gdLst/>
                <a:ahLst/>
                <a:cxnLst/>
                <a:rect r="r" b="b" t="t" l="l"/>
                <a:pathLst>
                  <a:path h="91567" w="7005447">
                    <a:moveTo>
                      <a:pt x="0" y="0"/>
                    </a:moveTo>
                    <a:lnTo>
                      <a:pt x="7005447" y="0"/>
                    </a:lnTo>
                    <a:lnTo>
                      <a:pt x="7005447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10B981"/>
              </a:solidFill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15388377" y="182016"/>
              <a:ext cx="767874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3"/>
                </a:lnSpc>
              </a:pPr>
              <a:r>
                <a:rPr lang="en-US" sz="3302">
                  <a:solidFill>
                    <a:srgbClr val="1A2B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📊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5493924" y="842531"/>
              <a:ext cx="6441376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1"/>
                </a:lnSpc>
              </a:pPr>
              <a:r>
                <a:rPr lang="en-US" sz="315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Don't Panic Meter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5493924" y="1402969"/>
              <a:ext cx="6441376" cy="1111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1"/>
                </a:lnSpc>
              </a:pPr>
              <a:r>
                <a:rPr lang="en-US" sz="270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ATR $6.60/day = normal daily wiggle. Don't panic sell.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Live System Results: AAPL Project Suite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2298" y="2973723"/>
            <a:ext cx="16813130" cy="2300173"/>
            <a:chOff x="0" y="0"/>
            <a:chExt cx="22417507" cy="306689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408133" cy="3066898"/>
              <a:chOff x="0" y="0"/>
              <a:chExt cx="10408133" cy="306689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408158" cy="3066936"/>
              </a:xfrm>
              <a:custGeom>
                <a:avLst/>
                <a:gdLst/>
                <a:ahLst/>
                <a:cxnLst/>
                <a:rect r="r" b="b" t="t" l="l"/>
                <a:pathLst>
                  <a:path h="3066936" w="10408158">
                    <a:moveTo>
                      <a:pt x="0" y="0"/>
                    </a:moveTo>
                    <a:lnTo>
                      <a:pt x="10408158" y="0"/>
                    </a:lnTo>
                    <a:lnTo>
                      <a:pt x="10408158" y="3066936"/>
                    </a:lnTo>
                    <a:lnTo>
                      <a:pt x="0" y="306693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0408133" cy="91516"/>
              <a:chOff x="0" y="0"/>
              <a:chExt cx="10408133" cy="915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08158" cy="91567"/>
              </a:xfrm>
              <a:custGeom>
                <a:avLst/>
                <a:gdLst/>
                <a:ahLst/>
                <a:cxnLst/>
                <a:rect r="r" b="b" t="t" l="l"/>
                <a:pathLst>
                  <a:path h="91567" w="10408158">
                    <a:moveTo>
                      <a:pt x="0" y="0"/>
                    </a:moveTo>
                    <a:lnTo>
                      <a:pt x="10408158" y="0"/>
                    </a:lnTo>
                    <a:lnTo>
                      <a:pt x="10408158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36954" y="172504"/>
              <a:ext cx="1046956" cy="942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03"/>
                </a:lnSpc>
              </a:pPr>
              <a:r>
                <a:rPr lang="en-US" sz="4502">
                  <a:solidFill>
                    <a:srgbClr val="1A2B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🛡️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82048" y="969543"/>
              <a:ext cx="9844037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1"/>
                </a:lnSpc>
              </a:pPr>
              <a:r>
                <a:rPr lang="en-US" sz="315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Retail Investor Protection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82048" y="1718843"/>
              <a:ext cx="9844037" cy="1111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1"/>
                </a:lnSpc>
              </a:pPr>
              <a:r>
                <a:rPr lang="en-US" sz="270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Flip-card dashboard + CLI translate homology into stop-loss prices any beginner can act on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12009374" y="0"/>
              <a:ext cx="10408133" cy="3066898"/>
              <a:chOff x="0" y="0"/>
              <a:chExt cx="10408133" cy="306689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408158" cy="3066936"/>
              </a:xfrm>
              <a:custGeom>
                <a:avLst/>
                <a:gdLst/>
                <a:ahLst/>
                <a:cxnLst/>
                <a:rect r="r" b="b" t="t" l="l"/>
                <a:pathLst>
                  <a:path h="3066936" w="10408158">
                    <a:moveTo>
                      <a:pt x="0" y="0"/>
                    </a:moveTo>
                    <a:lnTo>
                      <a:pt x="10408158" y="0"/>
                    </a:lnTo>
                    <a:lnTo>
                      <a:pt x="10408158" y="3066936"/>
                    </a:lnTo>
                    <a:lnTo>
                      <a:pt x="0" y="306693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009374" y="0"/>
              <a:ext cx="10408133" cy="91516"/>
              <a:chOff x="0" y="0"/>
              <a:chExt cx="10408133" cy="915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08158" cy="91567"/>
              </a:xfrm>
              <a:custGeom>
                <a:avLst/>
                <a:gdLst/>
                <a:ahLst/>
                <a:cxnLst/>
                <a:rect r="r" b="b" t="t" l="l"/>
                <a:pathLst>
                  <a:path h="91567" w="10408158">
                    <a:moveTo>
                      <a:pt x="0" y="0"/>
                    </a:moveTo>
                    <a:lnTo>
                      <a:pt x="10408158" y="0"/>
                    </a:lnTo>
                    <a:lnTo>
                      <a:pt x="10408158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10B981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046341" y="172504"/>
              <a:ext cx="1046956" cy="942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03"/>
                </a:lnSpc>
              </a:pPr>
              <a:r>
                <a:rPr lang="en-US" sz="4502">
                  <a:solidFill>
                    <a:srgbClr val="1A2B3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🌍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2291428" y="969543"/>
              <a:ext cx="9844037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1"/>
                </a:lnSpc>
              </a:pPr>
              <a:r>
                <a:rPr lang="en-US" sz="315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Global Market Coverage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2291422" y="1604543"/>
              <a:ext cx="9844037" cy="1111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1"/>
                </a:lnSpc>
              </a:pPr>
              <a:r>
                <a:rPr lang="en-US" sz="270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 equities, Indian NSE/BSE, ETFs, crypto · Auto-fallback: yfinance → tvDatafeed → NSE → BSE...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2298" y="5950171"/>
            <a:ext cx="7806099" cy="2271723"/>
            <a:chOff x="0" y="0"/>
            <a:chExt cx="10408133" cy="30289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08158" cy="3029003"/>
            </a:xfrm>
            <a:custGeom>
              <a:avLst/>
              <a:gdLst/>
              <a:ahLst/>
              <a:cxnLst/>
              <a:rect r="r" b="b" t="t" l="l"/>
              <a:pathLst>
                <a:path h="3029003" w="10408158">
                  <a:moveTo>
                    <a:pt x="0" y="0"/>
                  </a:moveTo>
                  <a:lnTo>
                    <a:pt x="10408158" y="0"/>
                  </a:lnTo>
                  <a:lnTo>
                    <a:pt x="10408158" y="3029003"/>
                  </a:lnTo>
                  <a:lnTo>
                    <a:pt x="0" y="30290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298" y="5950171"/>
            <a:ext cx="7806099" cy="68637"/>
            <a:chOff x="0" y="0"/>
            <a:chExt cx="10408133" cy="915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08158" cy="91567"/>
            </a:xfrm>
            <a:custGeom>
              <a:avLst/>
              <a:gdLst/>
              <a:ahLst/>
              <a:cxnLst/>
              <a:rect r="r" b="b" t="t" l="l"/>
              <a:pathLst>
                <a:path h="91567" w="10408158">
                  <a:moveTo>
                    <a:pt x="0" y="0"/>
                  </a:moveTo>
                  <a:lnTo>
                    <a:pt x="10408158" y="0"/>
                  </a:lnTo>
                  <a:lnTo>
                    <a:pt x="1040815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70013" y="6072406"/>
            <a:ext cx="78521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4502">
                <a:solidFill>
                  <a:srgbClr val="1A2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🏦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3829" y="6676033"/>
            <a:ext cx="738302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1" b="true">
                <a:solidFill>
                  <a:srgbClr val="1A2B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Institutional Risk Management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3829" y="7148816"/>
            <a:ext cx="738302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2× ATR stop-loss and 1% risk-rule position sizing. API-ready for brokerage integration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749328" y="5950171"/>
            <a:ext cx="7806099" cy="2271723"/>
            <a:chOff x="0" y="0"/>
            <a:chExt cx="10408133" cy="30289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08158" cy="3029003"/>
            </a:xfrm>
            <a:custGeom>
              <a:avLst/>
              <a:gdLst/>
              <a:ahLst/>
              <a:cxnLst/>
              <a:rect r="r" b="b" t="t" l="l"/>
              <a:pathLst>
                <a:path h="3029003" w="10408158">
                  <a:moveTo>
                    <a:pt x="0" y="0"/>
                  </a:moveTo>
                  <a:lnTo>
                    <a:pt x="10408158" y="0"/>
                  </a:lnTo>
                  <a:lnTo>
                    <a:pt x="10408158" y="3029003"/>
                  </a:lnTo>
                  <a:lnTo>
                    <a:pt x="0" y="30290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49328" y="5950171"/>
            <a:ext cx="7806099" cy="68637"/>
            <a:chOff x="0" y="0"/>
            <a:chExt cx="10408133" cy="915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08158" cy="91567"/>
            </a:xfrm>
            <a:custGeom>
              <a:avLst/>
              <a:gdLst/>
              <a:ahLst/>
              <a:cxnLst/>
              <a:rect r="r" b="b" t="t" l="l"/>
              <a:pathLst>
                <a:path h="91567" w="10408158">
                  <a:moveTo>
                    <a:pt x="0" y="0"/>
                  </a:moveTo>
                  <a:lnTo>
                    <a:pt x="10408158" y="0"/>
                  </a:lnTo>
                  <a:lnTo>
                    <a:pt x="10408158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777053" y="6072406"/>
            <a:ext cx="78521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4502">
                <a:solidFill>
                  <a:srgbClr val="1A2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🦢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60864" y="6672566"/>
            <a:ext cx="738302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1" b="true">
                <a:solidFill>
                  <a:srgbClr val="1A2B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Capital Preservation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60869" y="7152283"/>
            <a:ext cx="738302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Specialised in Black Swan detection. The goal is not alpha generation — it's not losing capital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8870" y="8772525"/>
            <a:ext cx="16630259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1E3A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Global equity markets exceed $100 trillion. Early structural warning — even 2-3 days before a drawdown — saves more than a false alarm costs.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Applications and Societal Impact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2509" y="2430599"/>
            <a:ext cx="732298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CURRENT LIMITATIONS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9748" y="6401607"/>
            <a:ext cx="732298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DIRECTIONS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8104" y="3512459"/>
            <a:ext cx="15891791" cy="2435369"/>
            <a:chOff x="0" y="0"/>
            <a:chExt cx="21189055" cy="324715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046046" cy="1403244"/>
              <a:chOff x="0" y="0"/>
              <a:chExt cx="10046046" cy="140324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046009" cy="1403308"/>
              </a:xfrm>
              <a:custGeom>
                <a:avLst/>
                <a:gdLst/>
                <a:ahLst/>
                <a:cxnLst/>
                <a:rect r="r" b="b" t="t" l="l"/>
                <a:pathLst>
                  <a:path h="1403308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1403308"/>
                    </a:lnTo>
                    <a:lnTo>
                      <a:pt x="0" y="1403308"/>
                    </a:lnTo>
                    <a:close/>
                  </a:path>
                </a:pathLst>
              </a:custGeom>
              <a:solidFill>
                <a:srgbClr val="F0F4F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6087"/>
              <a:ext cx="183724" cy="1403244"/>
              <a:chOff x="0" y="0"/>
              <a:chExt cx="183724" cy="140324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3750" cy="1403308"/>
              </a:xfrm>
              <a:custGeom>
                <a:avLst/>
                <a:gdLst/>
                <a:ahLst/>
                <a:cxnLst/>
                <a:rect r="r" b="b" t="t" l="l"/>
                <a:pathLst>
                  <a:path h="1403308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403308"/>
                    </a:lnTo>
                    <a:lnTo>
                      <a:pt x="0" y="1403308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9224" y="66764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3B82F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69392" y="66764"/>
              <a:ext cx="9122307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Compu</a:t>
              </a: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tational latency ~10s per request — Vietoris-Rips is O(n³)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1813724"/>
              <a:ext cx="10046046" cy="1433435"/>
              <a:chOff x="0" y="0"/>
              <a:chExt cx="10046046" cy="143343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046009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FFF7E6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1813724"/>
              <a:ext cx="183724" cy="1433435"/>
              <a:chOff x="0" y="0"/>
              <a:chExt cx="183724" cy="143343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3750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322950" y="1975738"/>
              <a:ext cx="8723097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914624" y="1955723"/>
              <a:ext cx="9862322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Only H0 and H1 c</a:t>
              </a: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omputed — H2 voids may contain additional crash signal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10745329" y="1813724"/>
              <a:ext cx="10046046" cy="1433435"/>
              <a:chOff x="0" y="0"/>
              <a:chExt cx="10046046" cy="143343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046009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0745329" y="1813724"/>
              <a:ext cx="183724" cy="1433435"/>
              <a:chOff x="0" y="0"/>
              <a:chExt cx="183724" cy="143343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83750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1149784" y="1955723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94A3B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2068278" y="1975738"/>
              <a:ext cx="8723097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1659953" y="1955723"/>
              <a:ext cx="9131422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ixed hyperparameters (d=3, τ=1, window=20) — not auto-tuned per asset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10745329" y="1813724"/>
              <a:ext cx="183724" cy="1433435"/>
              <a:chOff x="0" y="0"/>
              <a:chExt cx="183724" cy="143343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83750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94A3B8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404456" y="1955723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10745329" y="34419"/>
              <a:ext cx="10046046" cy="1384912"/>
              <a:chOff x="0" y="0"/>
              <a:chExt cx="10046046" cy="138491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046009" cy="1384975"/>
              </a:xfrm>
              <a:custGeom>
                <a:avLst/>
                <a:gdLst/>
                <a:ahLst/>
                <a:cxnLst/>
                <a:rect r="r" b="b" t="t" l="l"/>
                <a:pathLst>
                  <a:path h="1384975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1384975"/>
                    </a:lnTo>
                    <a:lnTo>
                      <a:pt x="0" y="1384975"/>
                    </a:lnTo>
                    <a:close/>
                  </a:path>
                </a:pathLst>
              </a:custGeom>
              <a:solidFill>
                <a:srgbClr val="F0FDF4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0745329" y="34419"/>
              <a:ext cx="183724" cy="1384912"/>
              <a:chOff x="0" y="0"/>
              <a:chExt cx="183724" cy="138491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3750" cy="1384975"/>
              </a:xfrm>
              <a:custGeom>
                <a:avLst/>
                <a:gdLst/>
                <a:ahLst/>
                <a:cxnLst/>
                <a:rect r="r" b="b" t="t" l="l"/>
                <a:pathLst>
                  <a:path h="1384975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384975"/>
                    </a:lnTo>
                    <a:lnTo>
                      <a:pt x="0" y="1384975"/>
                    </a:lnTo>
                    <a:close/>
                  </a:path>
                </a:pathLst>
              </a:custGeom>
              <a:solidFill>
                <a:srgbClr val="10B981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1149784" y="176418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10B98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2068278" y="196433"/>
              <a:ext cx="8261218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1659953" y="196433"/>
              <a:ext cx="9529103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SMO</a:t>
              </a: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 distorts TDA geometry — Euclidean k-NN on non-Euclidean features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8104" y="7183915"/>
            <a:ext cx="15891791" cy="2435369"/>
            <a:chOff x="0" y="0"/>
            <a:chExt cx="21189055" cy="3247159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0046046" cy="1403244"/>
              <a:chOff x="0" y="0"/>
              <a:chExt cx="10046046" cy="140324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046009" cy="1403308"/>
              </a:xfrm>
              <a:custGeom>
                <a:avLst/>
                <a:gdLst/>
                <a:ahLst/>
                <a:cxnLst/>
                <a:rect r="r" b="b" t="t" l="l"/>
                <a:pathLst>
                  <a:path h="1403308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1403308"/>
                    </a:lnTo>
                    <a:lnTo>
                      <a:pt x="0" y="1403308"/>
                    </a:lnTo>
                    <a:close/>
                  </a:path>
                </a:pathLst>
              </a:custGeom>
              <a:solidFill>
                <a:srgbClr val="F0F4F8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16087"/>
              <a:ext cx="183724" cy="1403244"/>
              <a:chOff x="0" y="0"/>
              <a:chExt cx="183724" cy="140324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83750" cy="1403308"/>
              </a:xfrm>
              <a:custGeom>
                <a:avLst/>
                <a:gdLst/>
                <a:ahLst/>
                <a:cxnLst/>
                <a:rect r="r" b="b" t="t" l="l"/>
                <a:pathLst>
                  <a:path h="1403308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403308"/>
                    </a:lnTo>
                    <a:lnTo>
                      <a:pt x="0" y="1403308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459224" y="66764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3B82F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969392" y="66764"/>
              <a:ext cx="9122307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Topology-aware augmen</a:t>
              </a: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tation to replace Euclidean SMOTE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0" y="1813724"/>
              <a:ext cx="10046046" cy="1433435"/>
              <a:chOff x="0" y="0"/>
              <a:chExt cx="10046046" cy="143343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0046009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FFF7E6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1813724"/>
              <a:ext cx="183724" cy="1433435"/>
              <a:chOff x="0" y="0"/>
              <a:chExt cx="183724" cy="143343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83750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1322950" y="1975738"/>
              <a:ext cx="8723097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914624" y="1955723"/>
              <a:ext cx="9862322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Portfoli</a:t>
              </a: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o-level systemic risk aggregation across multiple tickers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10745329" y="1813724"/>
              <a:ext cx="10046046" cy="1433435"/>
              <a:chOff x="0" y="0"/>
              <a:chExt cx="10046046" cy="143343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0046009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10745329" y="1813724"/>
              <a:ext cx="183724" cy="1433435"/>
              <a:chOff x="0" y="0"/>
              <a:chExt cx="183724" cy="1433435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83750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name="TextBox 52" id="52"/>
            <p:cNvSpPr txBox="true"/>
            <p:nvPr/>
          </p:nvSpPr>
          <p:spPr>
            <a:xfrm rot="0">
              <a:off x="11149784" y="1955723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94A3B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2068278" y="1975738"/>
              <a:ext cx="8723097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1659953" y="1955723"/>
              <a:ext cx="9131422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GPU</a:t>
              </a: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acceleration (RAPIDS cuML) to reduce latency to &lt;1s</a:t>
              </a:r>
            </a:p>
          </p:txBody>
        </p:sp>
        <p:grpSp>
          <p:nvGrpSpPr>
            <p:cNvPr name="Group 55" id="55"/>
            <p:cNvGrpSpPr/>
            <p:nvPr/>
          </p:nvGrpSpPr>
          <p:grpSpPr>
            <a:xfrm rot="0">
              <a:off x="10745329" y="1813724"/>
              <a:ext cx="183724" cy="1433435"/>
              <a:chOff x="0" y="0"/>
              <a:chExt cx="183724" cy="1433435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83750" cy="1433498"/>
              </a:xfrm>
              <a:custGeom>
                <a:avLst/>
                <a:gdLst/>
                <a:ahLst/>
                <a:cxnLst/>
                <a:rect r="r" b="b" t="t" l="l"/>
                <a:pathLst>
                  <a:path h="1433498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433498"/>
                    </a:lnTo>
                    <a:lnTo>
                      <a:pt x="0" y="1433498"/>
                    </a:lnTo>
                    <a:close/>
                  </a:path>
                </a:pathLst>
              </a:custGeom>
              <a:solidFill>
                <a:srgbClr val="94A3B8"/>
              </a:solidFill>
            </p:spPr>
          </p:sp>
        </p:grpSp>
        <p:sp>
          <p:nvSpPr>
            <p:cNvPr name="TextBox 57" id="57"/>
            <p:cNvSpPr txBox="true"/>
            <p:nvPr/>
          </p:nvSpPr>
          <p:spPr>
            <a:xfrm rot="0">
              <a:off x="404456" y="1955723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  <p:grpSp>
          <p:nvGrpSpPr>
            <p:cNvPr name="Group 58" id="58"/>
            <p:cNvGrpSpPr/>
            <p:nvPr/>
          </p:nvGrpSpPr>
          <p:grpSpPr>
            <a:xfrm rot="0">
              <a:off x="10745329" y="34419"/>
              <a:ext cx="10046046" cy="1384912"/>
              <a:chOff x="0" y="0"/>
              <a:chExt cx="10046046" cy="138491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0046009" cy="1384975"/>
              </a:xfrm>
              <a:custGeom>
                <a:avLst/>
                <a:gdLst/>
                <a:ahLst/>
                <a:cxnLst/>
                <a:rect r="r" b="b" t="t" l="l"/>
                <a:pathLst>
                  <a:path h="1384975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1384975"/>
                    </a:lnTo>
                    <a:lnTo>
                      <a:pt x="0" y="1384975"/>
                    </a:lnTo>
                    <a:close/>
                  </a:path>
                </a:pathLst>
              </a:custGeom>
              <a:solidFill>
                <a:srgbClr val="F0FDF4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10745329" y="34419"/>
              <a:ext cx="183724" cy="1384912"/>
              <a:chOff x="0" y="0"/>
              <a:chExt cx="183724" cy="1384912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83750" cy="1384975"/>
              </a:xfrm>
              <a:custGeom>
                <a:avLst/>
                <a:gdLst/>
                <a:ahLst/>
                <a:cxnLst/>
                <a:rect r="r" b="b" t="t" l="l"/>
                <a:pathLst>
                  <a:path h="1384975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1384975"/>
                    </a:lnTo>
                    <a:lnTo>
                      <a:pt x="0" y="1384975"/>
                    </a:lnTo>
                    <a:close/>
                  </a:path>
                </a:pathLst>
              </a:custGeom>
              <a:solidFill>
                <a:srgbClr val="10B981"/>
              </a:solidFill>
            </p:spPr>
          </p:sp>
        </p:grpSp>
        <p:sp>
          <p:nvSpPr>
            <p:cNvPr name="TextBox 62" id="62"/>
            <p:cNvSpPr txBox="true"/>
            <p:nvPr/>
          </p:nvSpPr>
          <p:spPr>
            <a:xfrm rot="0">
              <a:off x="11149784" y="176418"/>
              <a:ext cx="510168" cy="869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2"/>
                </a:lnSpc>
              </a:pPr>
              <a:r>
                <a:rPr lang="en-US" sz="4202" b="true">
                  <a:solidFill>
                    <a:srgbClr val="10B98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2068278" y="196433"/>
              <a:ext cx="8261218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61"/>
                </a:lnSpc>
              </a:pP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1659953" y="196433"/>
              <a:ext cx="9529103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</a:pP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US" sz="2851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igher-order homology H2, H3 for richer topological signal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Limitation and Future Direction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92235"/>
            <a:ext cx="18297725" cy="54912"/>
            <a:chOff x="0" y="0"/>
            <a:chExt cx="24396967" cy="732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96954" cy="73152"/>
            </a:xfrm>
            <a:custGeom>
              <a:avLst/>
              <a:gdLst/>
              <a:ahLst/>
              <a:cxnLst/>
              <a:rect r="r" b="b" t="t" l="l"/>
              <a:pathLst>
                <a:path h="731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377636" y="10207971"/>
            <a:ext cx="18297725" cy="9347902"/>
            <a:chOff x="0" y="0"/>
            <a:chExt cx="24396967" cy="12463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96954" cy="12463907"/>
            </a:xfrm>
            <a:custGeom>
              <a:avLst/>
              <a:gdLst/>
              <a:ahLst/>
              <a:cxnLst/>
              <a:rect r="r" b="b" t="t" l="l"/>
              <a:pathLst>
                <a:path h="1246390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2463907"/>
                  </a:lnTo>
                  <a:lnTo>
                    <a:pt x="0" y="1246390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520837" y="2167890"/>
            <a:ext cx="732298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1"/>
              </a:lnSpc>
            </a:pPr>
            <a:r>
              <a:rPr lang="en-US" sz="3551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REVENUE MODELS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50820" y="2920365"/>
            <a:ext cx="5254104" cy="2469628"/>
            <a:chOff x="0" y="0"/>
            <a:chExt cx="7005472" cy="32928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5447" cy="3292900"/>
            </a:xfrm>
            <a:custGeom>
              <a:avLst/>
              <a:gdLst/>
              <a:ahLst/>
              <a:cxnLst/>
              <a:rect r="r" b="b" t="t" l="l"/>
              <a:pathLst>
                <a:path h="3292900" w="7005447">
                  <a:moveTo>
                    <a:pt x="0" y="0"/>
                  </a:moveTo>
                  <a:lnTo>
                    <a:pt x="7005447" y="0"/>
                  </a:lnTo>
                  <a:lnTo>
                    <a:pt x="7005447" y="3292900"/>
                  </a:lnTo>
                  <a:lnTo>
                    <a:pt x="0" y="32929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0820" y="2920365"/>
            <a:ext cx="5254104" cy="68637"/>
            <a:chOff x="0" y="0"/>
            <a:chExt cx="7005472" cy="915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05447" cy="91567"/>
            </a:xfrm>
            <a:custGeom>
              <a:avLst/>
              <a:gdLst/>
              <a:ahLst/>
              <a:cxnLst/>
              <a:rect r="r" b="b" t="t" l="l"/>
              <a:pathLst>
                <a:path h="91567" w="7005447">
                  <a:moveTo>
                    <a:pt x="0" y="0"/>
                  </a:moveTo>
                  <a:lnTo>
                    <a:pt x="7005447" y="0"/>
                  </a:lnTo>
                  <a:lnTo>
                    <a:pt x="700544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66742" y="3116466"/>
            <a:ext cx="78521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4502" b="true">
                <a:solidFill>
                  <a:srgbClr val="1A2B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💻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1959" y="3139154"/>
            <a:ext cx="483103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1" b="true">
                <a:solidFill>
                  <a:srgbClr val="1A2B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SaaS Subscription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2352" y="3967829"/>
            <a:ext cx="483103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4A55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Retail: ₹499/mo · Pro: ₹1999/mo · Institutional: Custom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55276" y="2920365"/>
            <a:ext cx="5254104" cy="2469628"/>
            <a:chOff x="0" y="0"/>
            <a:chExt cx="7005472" cy="32928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05447" cy="3292900"/>
            </a:xfrm>
            <a:custGeom>
              <a:avLst/>
              <a:gdLst/>
              <a:ahLst/>
              <a:cxnLst/>
              <a:rect r="r" b="b" t="t" l="l"/>
              <a:pathLst>
                <a:path h="3292900" w="7005447">
                  <a:moveTo>
                    <a:pt x="0" y="0"/>
                  </a:moveTo>
                  <a:lnTo>
                    <a:pt x="7005447" y="0"/>
                  </a:lnTo>
                  <a:lnTo>
                    <a:pt x="7005447" y="3292900"/>
                  </a:lnTo>
                  <a:lnTo>
                    <a:pt x="0" y="32929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55276" y="2920365"/>
            <a:ext cx="5254104" cy="68637"/>
            <a:chOff x="0" y="0"/>
            <a:chExt cx="7005472" cy="915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5447" cy="91567"/>
            </a:xfrm>
            <a:custGeom>
              <a:avLst/>
              <a:gdLst/>
              <a:ahLst/>
              <a:cxnLst/>
              <a:rect r="r" b="b" t="t" l="l"/>
              <a:pathLst>
                <a:path h="91567" w="7005447">
                  <a:moveTo>
                    <a:pt x="0" y="0"/>
                  </a:moveTo>
                  <a:lnTo>
                    <a:pt x="7005447" y="0"/>
                  </a:lnTo>
                  <a:lnTo>
                    <a:pt x="700544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582992" y="3042590"/>
            <a:ext cx="78521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4502" b="true">
                <a:solidFill>
                  <a:srgbClr val="1A2B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⚙️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99323" y="3156890"/>
            <a:ext cx="483103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1" b="true">
                <a:solidFill>
                  <a:srgbClr val="1A2B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API Licensing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66807" y="3967829"/>
            <a:ext cx="483103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4A55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White-label risk API for brokers, robo-advisors, wealth platforms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259732" y="2920365"/>
            <a:ext cx="5254104" cy="2469628"/>
            <a:chOff x="0" y="0"/>
            <a:chExt cx="7005472" cy="32928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05447" cy="3292900"/>
            </a:xfrm>
            <a:custGeom>
              <a:avLst/>
              <a:gdLst/>
              <a:ahLst/>
              <a:cxnLst/>
              <a:rect r="r" b="b" t="t" l="l"/>
              <a:pathLst>
                <a:path h="3292900" w="7005447">
                  <a:moveTo>
                    <a:pt x="0" y="0"/>
                  </a:moveTo>
                  <a:lnTo>
                    <a:pt x="7005447" y="0"/>
                  </a:lnTo>
                  <a:lnTo>
                    <a:pt x="7005447" y="3292900"/>
                  </a:lnTo>
                  <a:lnTo>
                    <a:pt x="0" y="32929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259732" y="2920365"/>
            <a:ext cx="5254104" cy="68637"/>
            <a:chOff x="0" y="0"/>
            <a:chExt cx="7005472" cy="915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5447" cy="91567"/>
            </a:xfrm>
            <a:custGeom>
              <a:avLst/>
              <a:gdLst/>
              <a:ahLst/>
              <a:cxnLst/>
              <a:rect r="r" b="b" t="t" l="l"/>
              <a:pathLst>
                <a:path h="91567" w="7005447">
                  <a:moveTo>
                    <a:pt x="0" y="0"/>
                  </a:moveTo>
                  <a:lnTo>
                    <a:pt x="7005447" y="0"/>
                  </a:lnTo>
                  <a:lnTo>
                    <a:pt x="7005447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287447" y="3042590"/>
            <a:ext cx="78521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4502" b="true">
                <a:solidFill>
                  <a:srgbClr val="1A2B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🔌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72665" y="3230766"/>
            <a:ext cx="483103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151" b="true">
                <a:solidFill>
                  <a:srgbClr val="1A2B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Brokerage Plugin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71263" y="3967829"/>
            <a:ext cx="483103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4A55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Revenue-share model with Zerodha, Groww, Upstox, Angel One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89091" y="5742418"/>
            <a:ext cx="732298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true">
                <a:solidFill>
                  <a:srgbClr val="D4A84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PATENTABILITY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Commercial Potential and Patentability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111968" y="6390118"/>
            <a:ext cx="14064064" cy="3248866"/>
            <a:chOff x="0" y="0"/>
            <a:chExt cx="18752085" cy="433182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77425"/>
              <a:ext cx="9042674" cy="2012136"/>
              <a:chOff x="0" y="0"/>
              <a:chExt cx="10046046" cy="223540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046009" cy="2235465"/>
              </a:xfrm>
              <a:custGeom>
                <a:avLst/>
                <a:gdLst/>
                <a:ahLst/>
                <a:cxnLst/>
                <a:rect r="r" b="b" t="t" l="l"/>
                <a:pathLst>
                  <a:path h="2235465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2235465"/>
                    </a:lnTo>
                    <a:lnTo>
                      <a:pt x="0" y="2235465"/>
                    </a:lnTo>
                    <a:close/>
                  </a:path>
                </a:pathLst>
              </a:custGeom>
              <a:solidFill>
                <a:srgbClr val="F0F4F8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100493"/>
              <a:ext cx="165374" cy="2012136"/>
              <a:chOff x="0" y="0"/>
              <a:chExt cx="183724" cy="223540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83750" cy="2235465"/>
              </a:xfrm>
              <a:custGeom>
                <a:avLst/>
                <a:gdLst/>
                <a:ahLst/>
                <a:cxnLst/>
                <a:rect r="r" b="b" t="t" l="l"/>
                <a:pathLst>
                  <a:path h="2235465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2235465"/>
                    </a:lnTo>
                    <a:lnTo>
                      <a:pt x="0" y="2235465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344068" y="-38100"/>
              <a:ext cx="459214" cy="781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31"/>
                </a:lnSpc>
              </a:pPr>
              <a:r>
                <a:rPr lang="en-US" sz="3692" b="true">
                  <a:solidFill>
                    <a:srgbClr val="3B82F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803282" y="116917"/>
              <a:ext cx="7436110" cy="602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8"/>
                </a:lnSpc>
              </a:pPr>
              <a:r>
                <a:rPr lang="en-US" sz="288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Novelty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15739" y="802116"/>
              <a:ext cx="8211196" cy="1015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476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application of Manifold Velocity to financial crash prediction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0" y="2309191"/>
              <a:ext cx="9042674" cy="2022631"/>
              <a:chOff x="0" y="0"/>
              <a:chExt cx="10046046" cy="224706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046009" cy="2247125"/>
              </a:xfrm>
              <a:custGeom>
                <a:avLst/>
                <a:gdLst/>
                <a:ahLst/>
                <a:cxnLst/>
                <a:rect r="r" b="b" t="t" l="l"/>
                <a:pathLst>
                  <a:path h="2247125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2247125"/>
                    </a:lnTo>
                    <a:lnTo>
                      <a:pt x="0" y="2247125"/>
                    </a:lnTo>
                    <a:close/>
                  </a:path>
                </a:pathLst>
              </a:custGeom>
              <a:solidFill>
                <a:srgbClr val="FFF7E6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2309191"/>
              <a:ext cx="165374" cy="2022631"/>
              <a:chOff x="0" y="0"/>
              <a:chExt cx="183724" cy="2247061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3750" cy="2247125"/>
              </a:xfrm>
              <a:custGeom>
                <a:avLst/>
                <a:gdLst/>
                <a:ahLst/>
                <a:cxnLst/>
                <a:rect r="r" b="b" t="t" l="l"/>
                <a:pathLst>
                  <a:path h="2247125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2247125"/>
                    </a:lnTo>
                    <a:lnTo>
                      <a:pt x="0" y="2247125"/>
                    </a:lnTo>
                    <a:close/>
                  </a:path>
                </a:pathLst>
              </a:custGeom>
              <a:solidFill>
                <a:srgbClr val="D4A843"/>
              </a:solidFill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364060" y="2280616"/>
              <a:ext cx="459214" cy="794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9"/>
                </a:lnSpc>
              </a:pPr>
              <a:r>
                <a:rPr lang="en-US" sz="3782" b="true">
                  <a:solidFill>
                    <a:srgbClr val="D4A84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190817" y="2308157"/>
              <a:ext cx="7851857" cy="613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6"/>
                </a:lnSpc>
              </a:pPr>
              <a:r>
                <a:rPr lang="en-US" sz="297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Ind</a:t>
              </a:r>
              <a:r>
                <a:rPr lang="en-US" sz="297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ustrial Application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593667" y="3056055"/>
              <a:ext cx="8877300" cy="1047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566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Depl</a:t>
              </a:r>
              <a:r>
                <a:rPr lang="en-US" sz="2566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oyed live system with API, dashboard, and CLI</a:t>
              </a:r>
            </a:p>
          </p:txBody>
        </p:sp>
        <p:grpSp>
          <p:nvGrpSpPr>
            <p:cNvPr name="Group 53" id="53"/>
            <p:cNvGrpSpPr/>
            <p:nvPr/>
          </p:nvGrpSpPr>
          <p:grpSpPr>
            <a:xfrm rot="0">
              <a:off x="9709411" y="2297743"/>
              <a:ext cx="9042674" cy="2011023"/>
              <a:chOff x="0" y="0"/>
              <a:chExt cx="10046046" cy="2234166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0046009" cy="2234230"/>
              </a:xfrm>
              <a:custGeom>
                <a:avLst/>
                <a:gdLst/>
                <a:ahLst/>
                <a:cxnLst/>
                <a:rect r="r" b="b" t="t" l="l"/>
                <a:pathLst>
                  <a:path h="2234230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2234230"/>
                    </a:lnTo>
                    <a:lnTo>
                      <a:pt x="0" y="2234230"/>
                    </a:lnTo>
                    <a:close/>
                  </a:path>
                </a:pathLst>
              </a:custGeom>
              <a:solidFill>
                <a:srgbClr val="E2E8F0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9709411" y="2320798"/>
              <a:ext cx="165374" cy="2011023"/>
              <a:chOff x="0" y="0"/>
              <a:chExt cx="183724" cy="2234166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83750" cy="2234230"/>
              </a:xfrm>
              <a:custGeom>
                <a:avLst/>
                <a:gdLst/>
                <a:ahLst/>
                <a:cxnLst/>
                <a:rect r="r" b="b" t="t" l="l"/>
                <a:pathLst>
                  <a:path h="2234230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2234230"/>
                    </a:lnTo>
                    <a:lnTo>
                      <a:pt x="0" y="2234230"/>
                    </a:lnTo>
                    <a:close/>
                  </a:path>
                </a:pathLst>
              </a:custGeom>
              <a:solidFill>
                <a:srgbClr val="94A3B8"/>
              </a:solidFill>
            </p:spPr>
          </p:sp>
        </p:grpSp>
        <p:sp>
          <p:nvSpPr>
            <p:cNvPr name="TextBox 57" id="57"/>
            <p:cNvSpPr txBox="true"/>
            <p:nvPr/>
          </p:nvSpPr>
          <p:spPr>
            <a:xfrm rot="0">
              <a:off x="10122768" y="2336886"/>
              <a:ext cx="459214" cy="781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31"/>
                </a:lnSpc>
              </a:pPr>
              <a:r>
                <a:rPr lang="en-US" sz="3692" b="true">
                  <a:solidFill>
                    <a:srgbClr val="94A3B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0900228" y="2441673"/>
              <a:ext cx="7436110" cy="602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8"/>
                </a:lnSpc>
              </a:pPr>
              <a:r>
                <a:rPr lang="en-US" sz="288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TRL 4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0325894" y="3234260"/>
              <a:ext cx="8211196" cy="51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476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Technology</a:t>
              </a:r>
              <a:r>
                <a:rPr lang="en-US" sz="2476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validated with real market data</a:t>
              </a:r>
            </a:p>
          </p:txBody>
        </p:sp>
        <p:grpSp>
          <p:nvGrpSpPr>
            <p:cNvPr name="Group 60" id="60"/>
            <p:cNvGrpSpPr/>
            <p:nvPr/>
          </p:nvGrpSpPr>
          <p:grpSpPr>
            <a:xfrm rot="0">
              <a:off x="9709411" y="77425"/>
              <a:ext cx="9042674" cy="2074927"/>
              <a:chOff x="0" y="0"/>
              <a:chExt cx="10046046" cy="230516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0046009" cy="2305223"/>
              </a:xfrm>
              <a:custGeom>
                <a:avLst/>
                <a:gdLst/>
                <a:ahLst/>
                <a:cxnLst/>
                <a:rect r="r" b="b" t="t" l="l"/>
                <a:pathLst>
                  <a:path h="2305223" w="10046009">
                    <a:moveTo>
                      <a:pt x="0" y="0"/>
                    </a:moveTo>
                    <a:lnTo>
                      <a:pt x="10046009" y="0"/>
                    </a:lnTo>
                    <a:lnTo>
                      <a:pt x="10046009" y="2305223"/>
                    </a:lnTo>
                    <a:lnTo>
                      <a:pt x="0" y="2305223"/>
                    </a:lnTo>
                    <a:close/>
                  </a:path>
                </a:pathLst>
              </a:custGeom>
              <a:solidFill>
                <a:srgbClr val="F0FDF4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9709411" y="77425"/>
              <a:ext cx="165374" cy="2074927"/>
              <a:chOff x="0" y="0"/>
              <a:chExt cx="183724" cy="230516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83750" cy="2305223"/>
              </a:xfrm>
              <a:custGeom>
                <a:avLst/>
                <a:gdLst/>
                <a:ahLst/>
                <a:cxnLst/>
                <a:rect r="r" b="b" t="t" l="l"/>
                <a:pathLst>
                  <a:path h="2305223" w="183750">
                    <a:moveTo>
                      <a:pt x="0" y="0"/>
                    </a:moveTo>
                    <a:lnTo>
                      <a:pt x="183750" y="0"/>
                    </a:lnTo>
                    <a:lnTo>
                      <a:pt x="183750" y="2305223"/>
                    </a:lnTo>
                    <a:lnTo>
                      <a:pt x="0" y="2305223"/>
                    </a:lnTo>
                    <a:close/>
                  </a:path>
                </a:pathLst>
              </a:custGeom>
              <a:solidFill>
                <a:srgbClr val="10B981"/>
              </a:solidFill>
            </p:spPr>
          </p:sp>
        </p:grpSp>
        <p:sp>
          <p:nvSpPr>
            <p:cNvPr name="TextBox 64" id="64"/>
            <p:cNvSpPr txBox="true"/>
            <p:nvPr/>
          </p:nvSpPr>
          <p:spPr>
            <a:xfrm rot="0">
              <a:off x="9986902" y="7626"/>
              <a:ext cx="459214" cy="781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31"/>
                </a:lnSpc>
              </a:pPr>
              <a:r>
                <a:rPr lang="en-US" sz="3692" b="true">
                  <a:solidFill>
                    <a:srgbClr val="10B98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0512693" y="152423"/>
              <a:ext cx="7436110" cy="602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8"/>
                </a:lnSpc>
              </a:pPr>
              <a:r>
                <a:rPr lang="en-US" sz="288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</a:t>
              </a:r>
              <a:r>
                <a:rPr lang="en-US" sz="2881" b="true">
                  <a:solidFill>
                    <a:srgbClr val="1A2B3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nventive Step 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10174723" y="802116"/>
              <a:ext cx="8577361" cy="1015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476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Non-obv</a:t>
              </a:r>
              <a:r>
                <a:rPr lang="en-US" sz="2476">
                  <a:solidFill>
                    <a:srgbClr val="4A556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ious fusion: Takens + Persistence Landscape + Ensemble ML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9858" y="2266950"/>
            <a:ext cx="16982761" cy="80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[1] Gidea, M., &amp; Katz, Y. A. Topological data analysis of financial time series: Landscapes of crashes. Physica A: Statistical Mechanics and its Applications, 491, 820–834 (2018).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[2] Aguilar, A., &amp; Ensor, K. TDA Using Mean Persistence Landscapes for Financial Time Series Analysis. Preprint (2020).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[3] Jha, A. K. Beyond VaR and CVaR: Topological Risk Measures for Financial Stability. Working Paper (2023).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[4] Rai, A., et al. Identifying Extreme Events in the Stock Market Using Topological Data Analysis. Mathematics, 12(7), 1065 (2024).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[5] Bubenik, P. Statistical Topological Data Analysis using Persistence Landscapes. Journal of Machine Learning Research, 16(1), 77–102 (2015).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[6] Edelsbrunner, H., Letscher, D., &amp; Zomorodian, A. Topological Persistence and Simplification. Discrete &amp; Computational Geometry, 28(4), 511–533 (2002).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[7] Huang, D., et al. Exploring Applications of Topological Data Analysis for Stock Index Prediction. Expert Systems with Applications (2024).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[8] Takens, F. Detecting Strange Attractors in Turbulence. In: Dynamical Systems and Turbulence, Lecture Notes in Mathematics, vol. 898, pp. 366–381. Springer, Berlin (1981).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[9] Chen, T., &amp; Guestrin, C. XGBoost: A Scalable Tree Boosting System. In: Proceedings of the 22nd ACM SIGKDD International Conference on Knowledge Discovery and Data Mining, pp. 785–794 (2016).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[10] Chawla, N. V., et al. SMOTE: Synthetic Minority Over-sampling Technique. Journal of Artificial Intelligence Research, 16, 321–357 (2002).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[11] Yen, P. T-W., &amp; Cheong, S. A. Using Topological Data Analysis (TDA) and Persistent Homology to Analyze the Stock Markets in Singapore and Taiwan. Frontiers in Physics, 9 (2021).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[12] Ruiz-Ortiz, M. A., et al. A Persistent-Homology-Based Turbulence Index and Its Applications in Portfolio Management. Computational Economics (2022).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[13] Jolliffe, I. T. Principal Component Analysis. Springer, New York, 2nd edition (2002).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[14] Breiman, L. Random Forests. Machine Learning, 45(1), 5–32 (2001).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[15] Pedregosa, F., et al. Scikit-learn: Machine Learning in Python. Journal of Machine Learning Research, 12, 2825–2830 (2011).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892235"/>
            <a:ext cx="18297725" cy="54912"/>
            <a:chOff x="0" y="0"/>
            <a:chExt cx="24396967" cy="73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73152"/>
            </a:xfrm>
            <a:custGeom>
              <a:avLst/>
              <a:gdLst/>
              <a:ahLst/>
              <a:cxnLst/>
              <a:rect r="r" b="b" t="t" l="l"/>
              <a:pathLst>
                <a:path h="731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42461" y="685800"/>
            <a:ext cx="13861236" cy="694251"/>
            <a:chOff x="0" y="0"/>
            <a:chExt cx="18481648" cy="9256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81649" cy="925668"/>
            </a:xfrm>
            <a:custGeom>
              <a:avLst/>
              <a:gdLst/>
              <a:ahLst/>
              <a:cxnLst/>
              <a:rect r="r" b="b" t="t" l="l"/>
              <a:pathLst>
                <a:path h="925668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925668"/>
                  </a:lnTo>
                  <a:lnTo>
                    <a:pt x="0" y="925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158" r="-14784" b="-3959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8481648" cy="94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80" r="0" b="-167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92235"/>
            <a:ext cx="18297725" cy="54912"/>
            <a:chOff x="0" y="0"/>
            <a:chExt cx="24396967" cy="732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96954" cy="73152"/>
            </a:xfrm>
            <a:custGeom>
              <a:avLst/>
              <a:gdLst/>
              <a:ahLst/>
              <a:cxnLst/>
              <a:rect r="r" b="b" t="t" l="l"/>
              <a:pathLst>
                <a:path h="731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A84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304472"/>
            <a:ext cx="18302478" cy="1634818"/>
            <a:chOff x="0" y="0"/>
            <a:chExt cx="24403304" cy="21797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22801"/>
              <a:ext cx="24377904" cy="2134155"/>
            </a:xfrm>
            <a:custGeom>
              <a:avLst/>
              <a:gdLst/>
              <a:ahLst/>
              <a:cxnLst/>
              <a:rect r="r" b="b" t="t" l="l"/>
              <a:pathLst>
                <a:path h="213415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34155"/>
                  </a:lnTo>
                  <a:lnTo>
                    <a:pt x="0" y="2134155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3304" cy="2179757"/>
            </a:xfrm>
            <a:custGeom>
              <a:avLst/>
              <a:gdLst/>
              <a:ahLst/>
              <a:cxnLst/>
              <a:rect r="r" b="b" t="t" l="l"/>
              <a:pathLst>
                <a:path h="2179757" w="24403304">
                  <a:moveTo>
                    <a:pt x="12700" y="0"/>
                  </a:moveTo>
                  <a:lnTo>
                    <a:pt x="24390604" y="0"/>
                  </a:lnTo>
                  <a:cubicBezTo>
                    <a:pt x="24397590" y="0"/>
                    <a:pt x="24403304" y="10260"/>
                    <a:pt x="24403304" y="22801"/>
                  </a:cubicBezTo>
                  <a:lnTo>
                    <a:pt x="24403304" y="2156956"/>
                  </a:lnTo>
                  <a:cubicBezTo>
                    <a:pt x="24403304" y="2169497"/>
                    <a:pt x="24397590" y="2179757"/>
                    <a:pt x="24390604" y="2179757"/>
                  </a:cubicBezTo>
                  <a:lnTo>
                    <a:pt x="12700" y="2179757"/>
                  </a:lnTo>
                  <a:cubicBezTo>
                    <a:pt x="5715" y="2179757"/>
                    <a:pt x="0" y="2169497"/>
                    <a:pt x="0" y="2156956"/>
                  </a:cubicBezTo>
                  <a:lnTo>
                    <a:pt x="0" y="22801"/>
                  </a:lnTo>
                  <a:cubicBezTo>
                    <a:pt x="0" y="10260"/>
                    <a:pt x="5715" y="0"/>
                    <a:pt x="12700" y="0"/>
                  </a:cubicBezTo>
                  <a:moveTo>
                    <a:pt x="12700" y="45602"/>
                  </a:moveTo>
                  <a:lnTo>
                    <a:pt x="12700" y="22801"/>
                  </a:lnTo>
                  <a:lnTo>
                    <a:pt x="25400" y="22801"/>
                  </a:lnTo>
                  <a:lnTo>
                    <a:pt x="25400" y="2156956"/>
                  </a:lnTo>
                  <a:lnTo>
                    <a:pt x="12700" y="2156956"/>
                  </a:lnTo>
                  <a:lnTo>
                    <a:pt x="12700" y="2134155"/>
                  </a:lnTo>
                  <a:lnTo>
                    <a:pt x="24390604" y="2134155"/>
                  </a:lnTo>
                  <a:lnTo>
                    <a:pt x="24390604" y="2156956"/>
                  </a:lnTo>
                  <a:lnTo>
                    <a:pt x="24377904" y="2156956"/>
                  </a:lnTo>
                  <a:lnTo>
                    <a:pt x="24377904" y="22801"/>
                  </a:lnTo>
                  <a:lnTo>
                    <a:pt x="24390604" y="22801"/>
                  </a:lnTo>
                  <a:lnTo>
                    <a:pt x="24390604" y="45602"/>
                  </a:lnTo>
                  <a:lnTo>
                    <a:pt x="12700" y="4560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13382" y="4796374"/>
            <a:ext cx="13861236" cy="1158636"/>
            <a:chOff x="0" y="0"/>
            <a:chExt cx="18481648" cy="15448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81649" cy="1544847"/>
            </a:xfrm>
            <a:custGeom>
              <a:avLst/>
              <a:gdLst/>
              <a:ahLst/>
              <a:cxnLst/>
              <a:rect r="r" b="b" t="t" l="l"/>
              <a:pathLst>
                <a:path h="1544847" w="18481649">
                  <a:moveTo>
                    <a:pt x="0" y="0"/>
                  </a:moveTo>
                  <a:lnTo>
                    <a:pt x="18481649" y="0"/>
                  </a:lnTo>
                  <a:lnTo>
                    <a:pt x="18481649" y="1544847"/>
                  </a:lnTo>
                  <a:lnTo>
                    <a:pt x="0" y="15448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976" r="-14784" b="-1971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481648" cy="1582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59"/>
                </a:lnSpc>
              </a:pPr>
              <a:r>
                <a:rPr lang="en-US" sz="57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4405" y="0"/>
            <a:ext cx="3308264" cy="1617879"/>
            <a:chOff x="0" y="0"/>
            <a:chExt cx="2906179" cy="14212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06141" cy="1421294"/>
            </a:xfrm>
            <a:custGeom>
              <a:avLst/>
              <a:gdLst/>
              <a:ahLst/>
              <a:cxnLst/>
              <a:rect r="r" b="b" t="t" l="l"/>
              <a:pathLst>
                <a:path h="1421294" w="2906141">
                  <a:moveTo>
                    <a:pt x="0" y="0"/>
                  </a:moveTo>
                  <a:lnTo>
                    <a:pt x="2906141" y="0"/>
                  </a:lnTo>
                  <a:lnTo>
                    <a:pt x="2906141" y="1421294"/>
                  </a:lnTo>
                  <a:lnTo>
                    <a:pt x="0" y="14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31" r="-1" b="-542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DAHImpwBYQE</dc:identifier>
  <dcterms:modified xsi:type="dcterms:W3CDTF">2011-08-01T06:04:30Z</dcterms:modified>
  <cp:revision>1</cp:revision>
  <dc:title>TFRO_Presentation.pptx</dc:title>
</cp:coreProperties>
</file>